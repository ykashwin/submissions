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70" r:id="rId5"/>
    <p:sldId id="259" r:id="rId6"/>
    <p:sldId id="271" r:id="rId7"/>
    <p:sldId id="260" r:id="rId8"/>
    <p:sldId id="273" r:id="rId9"/>
    <p:sldId id="277" r:id="rId10"/>
    <p:sldId id="276" r:id="rId11"/>
    <p:sldId id="278" r:id="rId12"/>
    <p:sldId id="275" r:id="rId13"/>
    <p:sldId id="279" r:id="rId14"/>
    <p:sldId id="262" r:id="rId15"/>
    <p:sldId id="274" r:id="rId16"/>
    <p:sldId id="263" r:id="rId17"/>
    <p:sldId id="265" r:id="rId18"/>
    <p:sldId id="268" r:id="rId19"/>
    <p:sldId id="281" r:id="rId20"/>
    <p:sldId id="280" r:id="rId21"/>
    <p:sldId id="26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8" d="100"/>
          <a:sy n="68" d="100"/>
        </p:scale>
        <p:origin x="4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670687-AFF0-4A49-BC01-A130E29A98A3}" type="doc">
      <dgm:prSet loTypeId="urn:microsoft.com/office/officeart/2016/7/layout/ChevronBlockProcess" loCatId="process" qsTypeId="urn:microsoft.com/office/officeart/2005/8/quickstyle/simple2" qsCatId="simple" csTypeId="urn:microsoft.com/office/officeart/2005/8/colors/colorful2" csCatId="colorful" phldr="1"/>
      <dgm:spPr/>
      <dgm:t>
        <a:bodyPr/>
        <a:lstStyle/>
        <a:p>
          <a:endParaRPr lang="en-US"/>
        </a:p>
      </dgm:t>
    </dgm:pt>
    <dgm:pt modelId="{BD356268-8BB4-4E2C-A21E-07B69E4C5092}">
      <dgm:prSet/>
      <dgm:spPr/>
      <dgm:t>
        <a:bodyPr/>
        <a:lstStyle/>
        <a:p>
          <a:r>
            <a:rPr lang="en-GB" b="0" i="0" dirty="0"/>
            <a:t>Definition</a:t>
          </a:r>
          <a:endParaRPr lang="en-US" dirty="0"/>
        </a:p>
      </dgm:t>
    </dgm:pt>
    <dgm:pt modelId="{477FFDA0-2FAC-46DE-8FB6-5D6091B186E7}" type="parTrans" cxnId="{BBD7F9D9-0B6E-4E73-A559-285EC13CFC55}">
      <dgm:prSet/>
      <dgm:spPr/>
      <dgm:t>
        <a:bodyPr/>
        <a:lstStyle/>
        <a:p>
          <a:endParaRPr lang="en-US"/>
        </a:p>
      </dgm:t>
    </dgm:pt>
    <dgm:pt modelId="{07EB8C62-A0A3-4CE7-B313-3849CF817E7C}" type="sibTrans" cxnId="{BBD7F9D9-0B6E-4E73-A559-285EC13CFC55}">
      <dgm:prSet/>
      <dgm:spPr/>
      <dgm:t>
        <a:bodyPr/>
        <a:lstStyle/>
        <a:p>
          <a:endParaRPr lang="en-US"/>
        </a:p>
      </dgm:t>
    </dgm:pt>
    <dgm:pt modelId="{E7EF6F6A-334D-4C7F-BA00-8D5D70E409C8}">
      <dgm:prSet/>
      <dgm:spPr/>
      <dgm:t>
        <a:bodyPr/>
        <a:lstStyle/>
        <a:p>
          <a:r>
            <a:rPr lang="en-GB" b="0" i="0"/>
            <a:t>Characteristics:</a:t>
          </a:r>
          <a:endParaRPr lang="en-US"/>
        </a:p>
      </dgm:t>
    </dgm:pt>
    <dgm:pt modelId="{C24C380D-E871-4EF8-A47B-A5C6972FFF17}" type="parTrans" cxnId="{A7D6A412-6A83-4B80-BF85-9AC09F9158D3}">
      <dgm:prSet/>
      <dgm:spPr/>
      <dgm:t>
        <a:bodyPr/>
        <a:lstStyle/>
        <a:p>
          <a:endParaRPr lang="en-US"/>
        </a:p>
      </dgm:t>
    </dgm:pt>
    <dgm:pt modelId="{50076E76-BEB0-4584-BBAF-5CBD5BA54561}" type="sibTrans" cxnId="{A7D6A412-6A83-4B80-BF85-9AC09F9158D3}">
      <dgm:prSet/>
      <dgm:spPr/>
      <dgm:t>
        <a:bodyPr/>
        <a:lstStyle/>
        <a:p>
          <a:endParaRPr lang="en-US"/>
        </a:p>
      </dgm:t>
    </dgm:pt>
    <dgm:pt modelId="{D273C9D9-2F95-40E2-8728-00C76A8C96AF}">
      <dgm:prSet/>
      <dgm:spPr/>
      <dgm:t>
        <a:bodyPr/>
        <a:lstStyle/>
        <a:p>
          <a:r>
            <a:rPr lang="en-GB" b="0" i="0"/>
            <a:t>Proximity</a:t>
          </a:r>
          <a:endParaRPr lang="en-US"/>
        </a:p>
      </dgm:t>
    </dgm:pt>
    <dgm:pt modelId="{CA3FAF50-0A0A-4705-92B4-BFFB910881B7}" type="parTrans" cxnId="{4A918546-5E6B-49DD-8661-14544431E8BF}">
      <dgm:prSet/>
      <dgm:spPr/>
      <dgm:t>
        <a:bodyPr/>
        <a:lstStyle/>
        <a:p>
          <a:endParaRPr lang="en-US"/>
        </a:p>
      </dgm:t>
    </dgm:pt>
    <dgm:pt modelId="{098B0143-3E5E-44ED-9A5A-7E6CBDA0430B}" type="sibTrans" cxnId="{4A918546-5E6B-49DD-8661-14544431E8BF}">
      <dgm:prSet/>
      <dgm:spPr/>
      <dgm:t>
        <a:bodyPr/>
        <a:lstStyle/>
        <a:p>
          <a:endParaRPr lang="en-US"/>
        </a:p>
      </dgm:t>
    </dgm:pt>
    <dgm:pt modelId="{19508D2A-CAA1-4E00-A2BA-9865FCFBF645}">
      <dgm:prSet/>
      <dgm:spPr/>
      <dgm:t>
        <a:bodyPr/>
        <a:lstStyle/>
        <a:p>
          <a:r>
            <a:rPr lang="en-GB" b="0" i="0"/>
            <a:t>Community Involvement</a:t>
          </a:r>
          <a:endParaRPr lang="en-US"/>
        </a:p>
      </dgm:t>
    </dgm:pt>
    <dgm:pt modelId="{E68749C3-21B5-4D34-AD82-8F8679BE5B61}" type="parTrans" cxnId="{CBD7AEB0-E901-47C4-85D3-69F395D420AA}">
      <dgm:prSet/>
      <dgm:spPr/>
      <dgm:t>
        <a:bodyPr/>
        <a:lstStyle/>
        <a:p>
          <a:endParaRPr lang="en-US"/>
        </a:p>
      </dgm:t>
    </dgm:pt>
    <dgm:pt modelId="{CA07CF64-C862-4C4B-B7D8-966EDAB523DD}" type="sibTrans" cxnId="{CBD7AEB0-E901-47C4-85D3-69F395D420AA}">
      <dgm:prSet/>
      <dgm:spPr/>
      <dgm:t>
        <a:bodyPr/>
        <a:lstStyle/>
        <a:p>
          <a:endParaRPr lang="en-US"/>
        </a:p>
      </dgm:t>
    </dgm:pt>
    <dgm:pt modelId="{4841B713-9C33-477D-9BDB-4C94B8F6C1CD}">
      <dgm:prSet/>
      <dgm:spPr/>
      <dgm:t>
        <a:bodyPr/>
        <a:lstStyle/>
        <a:p>
          <a:r>
            <a:rPr lang="en-GB" b="0" i="0"/>
            <a:t>Preventive Focus</a:t>
          </a:r>
          <a:endParaRPr lang="en-US"/>
        </a:p>
      </dgm:t>
    </dgm:pt>
    <dgm:pt modelId="{E0F15C7A-0831-4939-ACD9-0AC8ED924766}" type="parTrans" cxnId="{125D7078-678E-40B5-AF6A-EB4DADC7DC56}">
      <dgm:prSet/>
      <dgm:spPr/>
      <dgm:t>
        <a:bodyPr/>
        <a:lstStyle/>
        <a:p>
          <a:endParaRPr lang="en-US"/>
        </a:p>
      </dgm:t>
    </dgm:pt>
    <dgm:pt modelId="{634973BD-F035-41A2-8621-F79918F2A6F0}" type="sibTrans" cxnId="{125D7078-678E-40B5-AF6A-EB4DADC7DC56}">
      <dgm:prSet/>
      <dgm:spPr/>
      <dgm:t>
        <a:bodyPr/>
        <a:lstStyle/>
        <a:p>
          <a:endParaRPr lang="en-US"/>
        </a:p>
      </dgm:t>
    </dgm:pt>
    <dgm:pt modelId="{8F0FCC3D-8357-4AA2-ACA6-E302DA57A882}">
      <dgm:prSet/>
      <dgm:spPr/>
      <dgm:t>
        <a:bodyPr/>
        <a:lstStyle/>
        <a:p>
          <a:r>
            <a:rPr lang="en-GB" b="0" i="0"/>
            <a:t>Interdisciplinary Collaboration</a:t>
          </a:r>
          <a:endParaRPr lang="en-US"/>
        </a:p>
      </dgm:t>
    </dgm:pt>
    <dgm:pt modelId="{E68397FF-8D92-4911-B54E-0EEB2D587070}" type="parTrans" cxnId="{ACB60667-4E5C-4596-880C-21DEE9766A9E}">
      <dgm:prSet/>
      <dgm:spPr/>
      <dgm:t>
        <a:bodyPr/>
        <a:lstStyle/>
        <a:p>
          <a:endParaRPr lang="en-US"/>
        </a:p>
      </dgm:t>
    </dgm:pt>
    <dgm:pt modelId="{86245CC6-898B-46E2-B68D-3E20D98B5A86}" type="sibTrans" cxnId="{ACB60667-4E5C-4596-880C-21DEE9766A9E}">
      <dgm:prSet/>
      <dgm:spPr/>
      <dgm:t>
        <a:bodyPr/>
        <a:lstStyle/>
        <a:p>
          <a:endParaRPr lang="en-US"/>
        </a:p>
      </dgm:t>
    </dgm:pt>
    <dgm:pt modelId="{5229E2AA-191D-4D04-A6F1-82AB7AD42498}">
      <dgm:prSet/>
      <dgm:spPr/>
      <dgm:t>
        <a:bodyPr/>
        <a:lstStyle/>
        <a:p>
          <a:r>
            <a:rPr lang="en-GB" b="0" i="0"/>
            <a:t>Objectives:</a:t>
          </a:r>
          <a:endParaRPr lang="en-US"/>
        </a:p>
      </dgm:t>
    </dgm:pt>
    <dgm:pt modelId="{68076B83-3B17-45FE-8856-AC3F2E4618BD}" type="parTrans" cxnId="{9A094A8A-58AE-4E53-BA09-0E87E288829F}">
      <dgm:prSet/>
      <dgm:spPr/>
      <dgm:t>
        <a:bodyPr/>
        <a:lstStyle/>
        <a:p>
          <a:endParaRPr lang="en-US"/>
        </a:p>
      </dgm:t>
    </dgm:pt>
    <dgm:pt modelId="{ECE1C47C-DD07-4BCA-B960-03E10C929244}" type="sibTrans" cxnId="{9A094A8A-58AE-4E53-BA09-0E87E288829F}">
      <dgm:prSet/>
      <dgm:spPr/>
      <dgm:t>
        <a:bodyPr/>
        <a:lstStyle/>
        <a:p>
          <a:endParaRPr lang="en-US"/>
        </a:p>
      </dgm:t>
    </dgm:pt>
    <dgm:pt modelId="{4C30D319-A6F0-4DAE-B4E7-53DF5E5F8C2D}">
      <dgm:prSet/>
      <dgm:spPr/>
      <dgm:t>
        <a:bodyPr/>
        <a:lstStyle/>
        <a:p>
          <a:r>
            <a:rPr lang="en-GB" b="0" i="0"/>
            <a:t>Improve Access to Healthcare</a:t>
          </a:r>
          <a:endParaRPr lang="en-US"/>
        </a:p>
      </dgm:t>
    </dgm:pt>
    <dgm:pt modelId="{10DF2BEB-1508-4A48-842A-98B6EA284C16}" type="parTrans" cxnId="{6DFE1065-0D67-4FFB-B205-3FE2B4BB3E49}">
      <dgm:prSet/>
      <dgm:spPr/>
      <dgm:t>
        <a:bodyPr/>
        <a:lstStyle/>
        <a:p>
          <a:endParaRPr lang="en-US"/>
        </a:p>
      </dgm:t>
    </dgm:pt>
    <dgm:pt modelId="{67838626-1A12-452F-8EAB-F676C5D8EE73}" type="sibTrans" cxnId="{6DFE1065-0D67-4FFB-B205-3FE2B4BB3E49}">
      <dgm:prSet/>
      <dgm:spPr/>
      <dgm:t>
        <a:bodyPr/>
        <a:lstStyle/>
        <a:p>
          <a:endParaRPr lang="en-US"/>
        </a:p>
      </dgm:t>
    </dgm:pt>
    <dgm:pt modelId="{CD991337-74B8-465C-AE0C-0660CAC1E943}">
      <dgm:prSet/>
      <dgm:spPr/>
      <dgm:t>
        <a:bodyPr/>
        <a:lstStyle/>
        <a:p>
          <a:r>
            <a:rPr lang="en-GB" b="0" i="0"/>
            <a:t>Enhance Community Health Outcomes</a:t>
          </a:r>
          <a:endParaRPr lang="en-US"/>
        </a:p>
      </dgm:t>
    </dgm:pt>
    <dgm:pt modelId="{F079FB30-9608-4B19-B168-062C847C7BB2}" type="parTrans" cxnId="{7B81A0E6-2E47-4B61-AF73-1915637E88FE}">
      <dgm:prSet/>
      <dgm:spPr/>
      <dgm:t>
        <a:bodyPr/>
        <a:lstStyle/>
        <a:p>
          <a:endParaRPr lang="en-US"/>
        </a:p>
      </dgm:t>
    </dgm:pt>
    <dgm:pt modelId="{D12ED2A1-23F1-49C2-81AF-5953067D94C6}" type="sibTrans" cxnId="{7B81A0E6-2E47-4B61-AF73-1915637E88FE}">
      <dgm:prSet/>
      <dgm:spPr/>
      <dgm:t>
        <a:bodyPr/>
        <a:lstStyle/>
        <a:p>
          <a:endParaRPr lang="en-US"/>
        </a:p>
      </dgm:t>
    </dgm:pt>
    <dgm:pt modelId="{FB70BC00-550F-43FC-B6CB-B6D87E1F4913}">
      <dgm:prSet/>
      <dgm:spPr/>
      <dgm:t>
        <a:bodyPr/>
        <a:lstStyle/>
        <a:p>
          <a:r>
            <a:rPr lang="en-GB" b="0" i="0"/>
            <a:t>Empower Community Participation</a:t>
          </a:r>
          <a:endParaRPr lang="en-US"/>
        </a:p>
      </dgm:t>
    </dgm:pt>
    <dgm:pt modelId="{0F493170-50FF-4D0F-8045-393B4CD95B38}" type="parTrans" cxnId="{B08C3D58-1E48-4BF5-85B6-993EDBBF5941}">
      <dgm:prSet/>
      <dgm:spPr/>
      <dgm:t>
        <a:bodyPr/>
        <a:lstStyle/>
        <a:p>
          <a:endParaRPr lang="en-US"/>
        </a:p>
      </dgm:t>
    </dgm:pt>
    <dgm:pt modelId="{E51E24DB-EA28-4425-9025-2110D71AC6C8}" type="sibTrans" cxnId="{B08C3D58-1E48-4BF5-85B6-993EDBBF5941}">
      <dgm:prSet/>
      <dgm:spPr/>
      <dgm:t>
        <a:bodyPr/>
        <a:lstStyle/>
        <a:p>
          <a:endParaRPr lang="en-US"/>
        </a:p>
      </dgm:t>
    </dgm:pt>
    <dgm:pt modelId="{50F7387C-B99D-4D94-BB83-9AF5CF97DF51}">
      <dgm:prSet/>
      <dgm:spPr/>
      <dgm:t>
        <a:bodyPr/>
        <a:lstStyle/>
        <a:p>
          <a:r>
            <a:rPr lang="en-GB" b="0" i="0"/>
            <a:t>Reduce Health Disparities</a:t>
          </a:r>
          <a:endParaRPr lang="en-US"/>
        </a:p>
      </dgm:t>
    </dgm:pt>
    <dgm:pt modelId="{10D73792-4869-4DB1-A9FE-F40036F3887D}" type="parTrans" cxnId="{B4DD80E0-D398-4CC8-B9E7-6D9D28FBCCAC}">
      <dgm:prSet/>
      <dgm:spPr/>
      <dgm:t>
        <a:bodyPr/>
        <a:lstStyle/>
        <a:p>
          <a:endParaRPr lang="en-US"/>
        </a:p>
      </dgm:t>
    </dgm:pt>
    <dgm:pt modelId="{C3D653D8-D425-474D-9283-D0D3724BF82F}" type="sibTrans" cxnId="{B4DD80E0-D398-4CC8-B9E7-6D9D28FBCCAC}">
      <dgm:prSet/>
      <dgm:spPr/>
      <dgm:t>
        <a:bodyPr/>
        <a:lstStyle/>
        <a:p>
          <a:endParaRPr lang="en-US"/>
        </a:p>
      </dgm:t>
    </dgm:pt>
    <dgm:pt modelId="{CACDFA0B-4AAF-4AB6-85EC-A790489C6C06}">
      <dgm:prSet/>
      <dgm:spPr/>
      <dgm:t>
        <a:bodyPr/>
        <a:lstStyle/>
        <a:p>
          <a:r>
            <a:rPr lang="en-GB" b="0" i="0" dirty="0"/>
            <a:t>The neighborhood-based primary healthcare model is a community-oriented approach that aims to deliver comprehensive and accessible healthcare services directly within local neighborhoods.</a:t>
          </a:r>
          <a:endParaRPr lang="en-GB" dirty="0"/>
        </a:p>
      </dgm:t>
    </dgm:pt>
    <dgm:pt modelId="{F98FCBC8-1ED6-4AF5-902B-839557972F3D}" type="parTrans" cxnId="{C9FB59D3-4575-4181-8DF9-B420F92088AD}">
      <dgm:prSet/>
      <dgm:spPr/>
      <dgm:t>
        <a:bodyPr/>
        <a:lstStyle/>
        <a:p>
          <a:endParaRPr lang="en-GB"/>
        </a:p>
      </dgm:t>
    </dgm:pt>
    <dgm:pt modelId="{4A3DAB00-FD31-4B76-9B83-AF28FA667D29}" type="sibTrans" cxnId="{C9FB59D3-4575-4181-8DF9-B420F92088AD}">
      <dgm:prSet/>
      <dgm:spPr/>
      <dgm:t>
        <a:bodyPr/>
        <a:lstStyle/>
        <a:p>
          <a:endParaRPr lang="en-GB"/>
        </a:p>
      </dgm:t>
    </dgm:pt>
    <dgm:pt modelId="{CBBE5B69-0041-40BA-B4B1-86D538E8C789}" type="pres">
      <dgm:prSet presAssocID="{3D670687-AFF0-4A49-BC01-A130E29A98A3}" presName="Name0" presStyleCnt="0">
        <dgm:presLayoutVars>
          <dgm:dir/>
          <dgm:animLvl val="lvl"/>
          <dgm:resizeHandles val="exact"/>
        </dgm:presLayoutVars>
      </dgm:prSet>
      <dgm:spPr/>
    </dgm:pt>
    <dgm:pt modelId="{C00179D6-648F-4AD5-BA80-1C9415616FD4}" type="pres">
      <dgm:prSet presAssocID="{BD356268-8BB4-4E2C-A21E-07B69E4C5092}" presName="composite" presStyleCnt="0"/>
      <dgm:spPr/>
    </dgm:pt>
    <dgm:pt modelId="{6480F53D-97D6-4856-A590-80DD6CD25858}" type="pres">
      <dgm:prSet presAssocID="{BD356268-8BB4-4E2C-A21E-07B69E4C5092}" presName="parTx" presStyleLbl="alignNode1" presStyleIdx="0" presStyleCnt="3">
        <dgm:presLayoutVars>
          <dgm:chMax val="0"/>
          <dgm:chPref val="0"/>
        </dgm:presLayoutVars>
      </dgm:prSet>
      <dgm:spPr/>
    </dgm:pt>
    <dgm:pt modelId="{6A129AA8-566E-417A-BF28-BDE69C9EC001}" type="pres">
      <dgm:prSet presAssocID="{BD356268-8BB4-4E2C-A21E-07B69E4C5092}" presName="desTx" presStyleLbl="alignAccFollowNode1" presStyleIdx="0" presStyleCnt="3">
        <dgm:presLayoutVars/>
      </dgm:prSet>
      <dgm:spPr/>
    </dgm:pt>
    <dgm:pt modelId="{BD940D8A-AE8C-4EA2-B8BF-69D9B8AE71A9}" type="pres">
      <dgm:prSet presAssocID="{07EB8C62-A0A3-4CE7-B313-3849CF817E7C}" presName="space" presStyleCnt="0"/>
      <dgm:spPr/>
    </dgm:pt>
    <dgm:pt modelId="{E09D7F2F-CDB5-4DEC-8601-E08C27D19F98}" type="pres">
      <dgm:prSet presAssocID="{E7EF6F6A-334D-4C7F-BA00-8D5D70E409C8}" presName="composite" presStyleCnt="0"/>
      <dgm:spPr/>
    </dgm:pt>
    <dgm:pt modelId="{16C554F8-358A-486C-B75F-14DB507268D3}" type="pres">
      <dgm:prSet presAssocID="{E7EF6F6A-334D-4C7F-BA00-8D5D70E409C8}" presName="parTx" presStyleLbl="alignNode1" presStyleIdx="1" presStyleCnt="3">
        <dgm:presLayoutVars>
          <dgm:chMax val="0"/>
          <dgm:chPref val="0"/>
        </dgm:presLayoutVars>
      </dgm:prSet>
      <dgm:spPr/>
    </dgm:pt>
    <dgm:pt modelId="{5F782E43-EABF-4240-97E1-9F2B2C3F6DF9}" type="pres">
      <dgm:prSet presAssocID="{E7EF6F6A-334D-4C7F-BA00-8D5D70E409C8}" presName="desTx" presStyleLbl="alignAccFollowNode1" presStyleIdx="1" presStyleCnt="3">
        <dgm:presLayoutVars/>
      </dgm:prSet>
      <dgm:spPr/>
    </dgm:pt>
    <dgm:pt modelId="{70FDCB80-4356-4D21-8E4E-ABF2E63E8216}" type="pres">
      <dgm:prSet presAssocID="{50076E76-BEB0-4584-BBAF-5CBD5BA54561}" presName="space" presStyleCnt="0"/>
      <dgm:spPr/>
    </dgm:pt>
    <dgm:pt modelId="{D303AA79-7EAA-4290-8612-7AA798582E5C}" type="pres">
      <dgm:prSet presAssocID="{5229E2AA-191D-4D04-A6F1-82AB7AD42498}" presName="composite" presStyleCnt="0"/>
      <dgm:spPr/>
    </dgm:pt>
    <dgm:pt modelId="{5D815929-9019-4871-BBE8-4174D7E0F0D8}" type="pres">
      <dgm:prSet presAssocID="{5229E2AA-191D-4D04-A6F1-82AB7AD42498}" presName="parTx" presStyleLbl="alignNode1" presStyleIdx="2" presStyleCnt="3">
        <dgm:presLayoutVars>
          <dgm:chMax val="0"/>
          <dgm:chPref val="0"/>
        </dgm:presLayoutVars>
      </dgm:prSet>
      <dgm:spPr/>
    </dgm:pt>
    <dgm:pt modelId="{3299E19C-BB27-4828-B70B-EB6BAE18842A}" type="pres">
      <dgm:prSet presAssocID="{5229E2AA-191D-4D04-A6F1-82AB7AD42498}" presName="desTx" presStyleLbl="alignAccFollowNode1" presStyleIdx="2" presStyleCnt="3">
        <dgm:presLayoutVars/>
      </dgm:prSet>
      <dgm:spPr/>
    </dgm:pt>
  </dgm:ptLst>
  <dgm:cxnLst>
    <dgm:cxn modelId="{F8BEDD08-A7F0-4F14-AC6B-7DABD4897330}" type="presOf" srcId="{FB70BC00-550F-43FC-B6CB-B6D87E1F4913}" destId="{3299E19C-BB27-4828-B70B-EB6BAE18842A}" srcOrd="0" destOrd="2" presId="urn:microsoft.com/office/officeart/2016/7/layout/ChevronBlockProcess"/>
    <dgm:cxn modelId="{A7D6A412-6A83-4B80-BF85-9AC09F9158D3}" srcId="{3D670687-AFF0-4A49-BC01-A130E29A98A3}" destId="{E7EF6F6A-334D-4C7F-BA00-8D5D70E409C8}" srcOrd="1" destOrd="0" parTransId="{C24C380D-E871-4EF8-A47B-A5C6972FFF17}" sibTransId="{50076E76-BEB0-4584-BBAF-5CBD5BA54561}"/>
    <dgm:cxn modelId="{D7738514-5B7A-43EA-AF3E-CA5E31523271}" type="presOf" srcId="{CACDFA0B-4AAF-4AB6-85EC-A790489C6C06}" destId="{6A129AA8-566E-417A-BF28-BDE69C9EC001}" srcOrd="0" destOrd="0" presId="urn:microsoft.com/office/officeart/2016/7/layout/ChevronBlockProcess"/>
    <dgm:cxn modelId="{A742C11D-2F8D-4BA9-AE12-F6F563119878}" type="presOf" srcId="{4841B713-9C33-477D-9BDB-4C94B8F6C1CD}" destId="{5F782E43-EABF-4240-97E1-9F2B2C3F6DF9}" srcOrd="0" destOrd="2" presId="urn:microsoft.com/office/officeart/2016/7/layout/ChevronBlockProcess"/>
    <dgm:cxn modelId="{1DCE6F5C-87B7-466E-A4E1-2F463E33A0B3}" type="presOf" srcId="{E7EF6F6A-334D-4C7F-BA00-8D5D70E409C8}" destId="{16C554F8-358A-486C-B75F-14DB507268D3}" srcOrd="0" destOrd="0" presId="urn:microsoft.com/office/officeart/2016/7/layout/ChevronBlockProcess"/>
    <dgm:cxn modelId="{6C88535F-E22F-4C7D-8CD3-13A63F33FE9B}" type="presOf" srcId="{8F0FCC3D-8357-4AA2-ACA6-E302DA57A882}" destId="{5F782E43-EABF-4240-97E1-9F2B2C3F6DF9}" srcOrd="0" destOrd="3" presId="urn:microsoft.com/office/officeart/2016/7/layout/ChevronBlockProcess"/>
    <dgm:cxn modelId="{6DFE1065-0D67-4FFB-B205-3FE2B4BB3E49}" srcId="{5229E2AA-191D-4D04-A6F1-82AB7AD42498}" destId="{4C30D319-A6F0-4DAE-B4E7-53DF5E5F8C2D}" srcOrd="0" destOrd="0" parTransId="{10DF2BEB-1508-4A48-842A-98B6EA284C16}" sibTransId="{67838626-1A12-452F-8EAB-F676C5D8EE73}"/>
    <dgm:cxn modelId="{4A918546-5E6B-49DD-8661-14544431E8BF}" srcId="{E7EF6F6A-334D-4C7F-BA00-8D5D70E409C8}" destId="{D273C9D9-2F95-40E2-8728-00C76A8C96AF}" srcOrd="0" destOrd="0" parTransId="{CA3FAF50-0A0A-4705-92B4-BFFB910881B7}" sibTransId="{098B0143-3E5E-44ED-9A5A-7E6CBDA0430B}"/>
    <dgm:cxn modelId="{ACB60667-4E5C-4596-880C-21DEE9766A9E}" srcId="{E7EF6F6A-334D-4C7F-BA00-8D5D70E409C8}" destId="{8F0FCC3D-8357-4AA2-ACA6-E302DA57A882}" srcOrd="3" destOrd="0" parTransId="{E68397FF-8D92-4911-B54E-0EEB2D587070}" sibTransId="{86245CC6-898B-46E2-B68D-3E20D98B5A86}"/>
    <dgm:cxn modelId="{64885D47-526C-4202-AC0D-50BD222E0BC5}" type="presOf" srcId="{CD991337-74B8-465C-AE0C-0660CAC1E943}" destId="{3299E19C-BB27-4828-B70B-EB6BAE18842A}" srcOrd="0" destOrd="1" presId="urn:microsoft.com/office/officeart/2016/7/layout/ChevronBlockProcess"/>
    <dgm:cxn modelId="{A85BC34A-3651-49B2-80CC-EF811235E97A}" type="presOf" srcId="{19508D2A-CAA1-4E00-A2BA-9865FCFBF645}" destId="{5F782E43-EABF-4240-97E1-9F2B2C3F6DF9}" srcOrd="0" destOrd="1" presId="urn:microsoft.com/office/officeart/2016/7/layout/ChevronBlockProcess"/>
    <dgm:cxn modelId="{5881074F-BB1E-4E00-B4AE-D9E452584BDE}" type="presOf" srcId="{D273C9D9-2F95-40E2-8728-00C76A8C96AF}" destId="{5F782E43-EABF-4240-97E1-9F2B2C3F6DF9}" srcOrd="0" destOrd="0" presId="urn:microsoft.com/office/officeart/2016/7/layout/ChevronBlockProcess"/>
    <dgm:cxn modelId="{B08C3D58-1E48-4BF5-85B6-993EDBBF5941}" srcId="{5229E2AA-191D-4D04-A6F1-82AB7AD42498}" destId="{FB70BC00-550F-43FC-B6CB-B6D87E1F4913}" srcOrd="2" destOrd="0" parTransId="{0F493170-50FF-4D0F-8045-393B4CD95B38}" sibTransId="{E51E24DB-EA28-4425-9025-2110D71AC6C8}"/>
    <dgm:cxn modelId="{125D7078-678E-40B5-AF6A-EB4DADC7DC56}" srcId="{E7EF6F6A-334D-4C7F-BA00-8D5D70E409C8}" destId="{4841B713-9C33-477D-9BDB-4C94B8F6C1CD}" srcOrd="2" destOrd="0" parTransId="{E0F15C7A-0831-4939-ACD9-0AC8ED924766}" sibTransId="{634973BD-F035-41A2-8621-F79918F2A6F0}"/>
    <dgm:cxn modelId="{9A094A8A-58AE-4E53-BA09-0E87E288829F}" srcId="{3D670687-AFF0-4A49-BC01-A130E29A98A3}" destId="{5229E2AA-191D-4D04-A6F1-82AB7AD42498}" srcOrd="2" destOrd="0" parTransId="{68076B83-3B17-45FE-8856-AC3F2E4618BD}" sibTransId="{ECE1C47C-DD07-4BCA-B960-03E10C929244}"/>
    <dgm:cxn modelId="{734EC6A7-22FB-49B1-809D-673816EF97E7}" type="presOf" srcId="{3D670687-AFF0-4A49-BC01-A130E29A98A3}" destId="{CBBE5B69-0041-40BA-B4B1-86D538E8C789}" srcOrd="0" destOrd="0" presId="urn:microsoft.com/office/officeart/2016/7/layout/ChevronBlockProcess"/>
    <dgm:cxn modelId="{CBD7AEB0-E901-47C4-85D3-69F395D420AA}" srcId="{E7EF6F6A-334D-4C7F-BA00-8D5D70E409C8}" destId="{19508D2A-CAA1-4E00-A2BA-9865FCFBF645}" srcOrd="1" destOrd="0" parTransId="{E68749C3-21B5-4D34-AD82-8F8679BE5B61}" sibTransId="{CA07CF64-C862-4C4B-B7D8-966EDAB523DD}"/>
    <dgm:cxn modelId="{174383BB-26E2-46F7-B35F-86DBD218DEB8}" type="presOf" srcId="{BD356268-8BB4-4E2C-A21E-07B69E4C5092}" destId="{6480F53D-97D6-4856-A590-80DD6CD25858}" srcOrd="0" destOrd="0" presId="urn:microsoft.com/office/officeart/2016/7/layout/ChevronBlockProcess"/>
    <dgm:cxn modelId="{C74E32BF-FA97-47CE-874E-5B0839A79822}" type="presOf" srcId="{4C30D319-A6F0-4DAE-B4E7-53DF5E5F8C2D}" destId="{3299E19C-BB27-4828-B70B-EB6BAE18842A}" srcOrd="0" destOrd="0" presId="urn:microsoft.com/office/officeart/2016/7/layout/ChevronBlockProcess"/>
    <dgm:cxn modelId="{8D2A22CD-B959-44B4-9266-6BD9E7224BE7}" type="presOf" srcId="{5229E2AA-191D-4D04-A6F1-82AB7AD42498}" destId="{5D815929-9019-4871-BBE8-4174D7E0F0D8}" srcOrd="0" destOrd="0" presId="urn:microsoft.com/office/officeart/2016/7/layout/ChevronBlockProcess"/>
    <dgm:cxn modelId="{C9FB59D3-4575-4181-8DF9-B420F92088AD}" srcId="{BD356268-8BB4-4E2C-A21E-07B69E4C5092}" destId="{CACDFA0B-4AAF-4AB6-85EC-A790489C6C06}" srcOrd="0" destOrd="0" parTransId="{F98FCBC8-1ED6-4AF5-902B-839557972F3D}" sibTransId="{4A3DAB00-FD31-4B76-9B83-AF28FA667D29}"/>
    <dgm:cxn modelId="{695BC2D6-E888-489B-8AF1-CE710FB1D810}" type="presOf" srcId="{50F7387C-B99D-4D94-BB83-9AF5CF97DF51}" destId="{3299E19C-BB27-4828-B70B-EB6BAE18842A}" srcOrd="0" destOrd="3" presId="urn:microsoft.com/office/officeart/2016/7/layout/ChevronBlockProcess"/>
    <dgm:cxn modelId="{BBD7F9D9-0B6E-4E73-A559-285EC13CFC55}" srcId="{3D670687-AFF0-4A49-BC01-A130E29A98A3}" destId="{BD356268-8BB4-4E2C-A21E-07B69E4C5092}" srcOrd="0" destOrd="0" parTransId="{477FFDA0-2FAC-46DE-8FB6-5D6091B186E7}" sibTransId="{07EB8C62-A0A3-4CE7-B313-3849CF817E7C}"/>
    <dgm:cxn modelId="{B4DD80E0-D398-4CC8-B9E7-6D9D28FBCCAC}" srcId="{5229E2AA-191D-4D04-A6F1-82AB7AD42498}" destId="{50F7387C-B99D-4D94-BB83-9AF5CF97DF51}" srcOrd="3" destOrd="0" parTransId="{10D73792-4869-4DB1-A9FE-F40036F3887D}" sibTransId="{C3D653D8-D425-474D-9283-D0D3724BF82F}"/>
    <dgm:cxn modelId="{7B81A0E6-2E47-4B61-AF73-1915637E88FE}" srcId="{5229E2AA-191D-4D04-A6F1-82AB7AD42498}" destId="{CD991337-74B8-465C-AE0C-0660CAC1E943}" srcOrd="1" destOrd="0" parTransId="{F079FB30-9608-4B19-B168-062C847C7BB2}" sibTransId="{D12ED2A1-23F1-49C2-81AF-5953067D94C6}"/>
    <dgm:cxn modelId="{2B052BA2-F39F-45E3-974C-E71474D0AB0E}" type="presParOf" srcId="{CBBE5B69-0041-40BA-B4B1-86D538E8C789}" destId="{C00179D6-648F-4AD5-BA80-1C9415616FD4}" srcOrd="0" destOrd="0" presId="urn:microsoft.com/office/officeart/2016/7/layout/ChevronBlockProcess"/>
    <dgm:cxn modelId="{E359A313-AC21-4309-ADC8-47764DC8B94E}" type="presParOf" srcId="{C00179D6-648F-4AD5-BA80-1C9415616FD4}" destId="{6480F53D-97D6-4856-A590-80DD6CD25858}" srcOrd="0" destOrd="0" presId="urn:microsoft.com/office/officeart/2016/7/layout/ChevronBlockProcess"/>
    <dgm:cxn modelId="{F1B30D32-26CC-4939-961B-2712E0D7310B}" type="presParOf" srcId="{C00179D6-648F-4AD5-BA80-1C9415616FD4}" destId="{6A129AA8-566E-417A-BF28-BDE69C9EC001}" srcOrd="1" destOrd="0" presId="urn:microsoft.com/office/officeart/2016/7/layout/ChevronBlockProcess"/>
    <dgm:cxn modelId="{7BB01B23-01FD-45BB-BCA7-C0100CAC62EF}" type="presParOf" srcId="{CBBE5B69-0041-40BA-B4B1-86D538E8C789}" destId="{BD940D8A-AE8C-4EA2-B8BF-69D9B8AE71A9}" srcOrd="1" destOrd="0" presId="urn:microsoft.com/office/officeart/2016/7/layout/ChevronBlockProcess"/>
    <dgm:cxn modelId="{8EF0F7F6-BE3B-432A-A30B-D65BB9E30A98}" type="presParOf" srcId="{CBBE5B69-0041-40BA-B4B1-86D538E8C789}" destId="{E09D7F2F-CDB5-4DEC-8601-E08C27D19F98}" srcOrd="2" destOrd="0" presId="urn:microsoft.com/office/officeart/2016/7/layout/ChevronBlockProcess"/>
    <dgm:cxn modelId="{4BA30ED9-BC90-4A13-976E-6F073FF02264}" type="presParOf" srcId="{E09D7F2F-CDB5-4DEC-8601-E08C27D19F98}" destId="{16C554F8-358A-486C-B75F-14DB507268D3}" srcOrd="0" destOrd="0" presId="urn:microsoft.com/office/officeart/2016/7/layout/ChevronBlockProcess"/>
    <dgm:cxn modelId="{5F1E1E3F-0BB9-41B3-AB03-3EA08AD7A776}" type="presParOf" srcId="{E09D7F2F-CDB5-4DEC-8601-E08C27D19F98}" destId="{5F782E43-EABF-4240-97E1-9F2B2C3F6DF9}" srcOrd="1" destOrd="0" presId="urn:microsoft.com/office/officeart/2016/7/layout/ChevronBlockProcess"/>
    <dgm:cxn modelId="{93DCF24E-A684-44D6-A570-0CFFC62E28DD}" type="presParOf" srcId="{CBBE5B69-0041-40BA-B4B1-86D538E8C789}" destId="{70FDCB80-4356-4D21-8E4E-ABF2E63E8216}" srcOrd="3" destOrd="0" presId="urn:microsoft.com/office/officeart/2016/7/layout/ChevronBlockProcess"/>
    <dgm:cxn modelId="{5919E9EA-BB00-4E8E-9DB2-41B7B1238817}" type="presParOf" srcId="{CBBE5B69-0041-40BA-B4B1-86D538E8C789}" destId="{D303AA79-7EAA-4290-8612-7AA798582E5C}" srcOrd="4" destOrd="0" presId="urn:microsoft.com/office/officeart/2016/7/layout/ChevronBlockProcess"/>
    <dgm:cxn modelId="{5C71EA65-44D6-4CF7-95F2-CE2C23786E14}" type="presParOf" srcId="{D303AA79-7EAA-4290-8612-7AA798582E5C}" destId="{5D815929-9019-4871-BBE8-4174D7E0F0D8}" srcOrd="0" destOrd="0" presId="urn:microsoft.com/office/officeart/2016/7/layout/ChevronBlockProcess"/>
    <dgm:cxn modelId="{D1E5BE52-E4B9-43C5-984A-6BE6C7CD3A57}" type="presParOf" srcId="{D303AA79-7EAA-4290-8612-7AA798582E5C}" destId="{3299E19C-BB27-4828-B70B-EB6BAE18842A}" srcOrd="1" destOrd="0" presId="urn:microsoft.com/office/officeart/2016/7/layout/ChevronBlock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F188DD5-860A-41AB-8FE8-06206FD4C16E}"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4040EA8A-2775-43F0-8680-F3A18D7C6845}">
      <dgm:prSet custT="1"/>
      <dgm:spPr/>
      <dgm:t>
        <a:bodyPr/>
        <a:lstStyle/>
        <a:p>
          <a:r>
            <a:rPr lang="en-GB" sz="3200" dirty="0"/>
            <a:t>The Advantages for community of Implementing a Neighborhood-Based Primary Healthcare Model</a:t>
          </a:r>
          <a:endParaRPr lang="en-US" sz="3200" dirty="0"/>
        </a:p>
      </dgm:t>
    </dgm:pt>
    <dgm:pt modelId="{76A84CCB-F78E-4E3B-BEA8-2BDF6A9043E6}" type="parTrans" cxnId="{E3F4E106-C4C7-457A-A675-D05D6BB00056}">
      <dgm:prSet/>
      <dgm:spPr/>
      <dgm:t>
        <a:bodyPr/>
        <a:lstStyle/>
        <a:p>
          <a:endParaRPr lang="en-US"/>
        </a:p>
      </dgm:t>
    </dgm:pt>
    <dgm:pt modelId="{1148892B-701D-4B4A-924F-C4197EE6F217}" type="sibTrans" cxnId="{E3F4E106-C4C7-457A-A675-D05D6BB00056}">
      <dgm:prSet/>
      <dgm:spPr/>
      <dgm:t>
        <a:bodyPr/>
        <a:lstStyle/>
        <a:p>
          <a:endParaRPr lang="en-US"/>
        </a:p>
      </dgm:t>
    </dgm:pt>
    <dgm:pt modelId="{BEE8CADF-490B-4A43-9D66-21237F029D0D}">
      <dgm:prSet custT="1"/>
      <dgm:spPr/>
      <dgm:t>
        <a:bodyPr/>
        <a:lstStyle/>
        <a:p>
          <a:r>
            <a:rPr lang="en-GB" sz="3200" b="0" i="0" dirty="0"/>
            <a:t>Analyse the impact of such a model on community health outcomes and patient satisfaction.</a:t>
          </a:r>
          <a:endParaRPr lang="en-US" sz="3200" dirty="0"/>
        </a:p>
      </dgm:t>
    </dgm:pt>
    <dgm:pt modelId="{B7ADF53D-75A1-4825-BBD2-39E3E49C964B}" type="parTrans" cxnId="{5FEB70BD-9DC9-4640-8BB5-F57B2560A9F5}">
      <dgm:prSet/>
      <dgm:spPr/>
      <dgm:t>
        <a:bodyPr/>
        <a:lstStyle/>
        <a:p>
          <a:endParaRPr lang="en-US"/>
        </a:p>
      </dgm:t>
    </dgm:pt>
    <dgm:pt modelId="{F308B9A9-52CE-4023-8B13-D33888EC5442}" type="sibTrans" cxnId="{5FEB70BD-9DC9-4640-8BB5-F57B2560A9F5}">
      <dgm:prSet/>
      <dgm:spPr/>
      <dgm:t>
        <a:bodyPr/>
        <a:lstStyle/>
        <a:p>
          <a:endParaRPr lang="en-US"/>
        </a:p>
      </dgm:t>
    </dgm:pt>
    <dgm:pt modelId="{17FCE3A5-323F-4D62-821D-DEED37E5F857}">
      <dgm:prSet custT="1"/>
      <dgm:spPr/>
      <dgm:t>
        <a:bodyPr/>
        <a:lstStyle/>
        <a:p>
          <a:r>
            <a:rPr lang="en-GB" sz="3200" b="0" i="0" dirty="0"/>
            <a:t>Proof of potential challenges being overcome by case study</a:t>
          </a:r>
          <a:endParaRPr lang="en-US" sz="3200" dirty="0"/>
        </a:p>
      </dgm:t>
    </dgm:pt>
    <dgm:pt modelId="{CE656844-D7A7-4E3E-A742-22F98F15FD6E}" type="parTrans" cxnId="{E9E0C5FD-9D8B-4355-9068-31CDDCC3C251}">
      <dgm:prSet/>
      <dgm:spPr/>
      <dgm:t>
        <a:bodyPr/>
        <a:lstStyle/>
        <a:p>
          <a:endParaRPr lang="en-US"/>
        </a:p>
      </dgm:t>
    </dgm:pt>
    <dgm:pt modelId="{81759494-8093-4140-AD9C-7FF4BD601F4E}" type="sibTrans" cxnId="{E9E0C5FD-9D8B-4355-9068-31CDDCC3C251}">
      <dgm:prSet/>
      <dgm:spPr/>
      <dgm:t>
        <a:bodyPr/>
        <a:lstStyle/>
        <a:p>
          <a:endParaRPr lang="en-US"/>
        </a:p>
      </dgm:t>
    </dgm:pt>
    <dgm:pt modelId="{B397AA38-47C9-4837-811F-008691A95F49}" type="pres">
      <dgm:prSet presAssocID="{9F188DD5-860A-41AB-8FE8-06206FD4C16E}" presName="linear" presStyleCnt="0">
        <dgm:presLayoutVars>
          <dgm:animLvl val="lvl"/>
          <dgm:resizeHandles val="exact"/>
        </dgm:presLayoutVars>
      </dgm:prSet>
      <dgm:spPr/>
    </dgm:pt>
    <dgm:pt modelId="{087D16B1-5731-47D0-8263-EB105EB4B316}" type="pres">
      <dgm:prSet presAssocID="{4040EA8A-2775-43F0-8680-F3A18D7C6845}" presName="parentText" presStyleLbl="node1" presStyleIdx="0" presStyleCnt="3">
        <dgm:presLayoutVars>
          <dgm:chMax val="0"/>
          <dgm:bulletEnabled val="1"/>
        </dgm:presLayoutVars>
      </dgm:prSet>
      <dgm:spPr/>
    </dgm:pt>
    <dgm:pt modelId="{CC5D3233-D96B-4E68-B421-29364C09121E}" type="pres">
      <dgm:prSet presAssocID="{1148892B-701D-4B4A-924F-C4197EE6F217}" presName="spacer" presStyleCnt="0"/>
      <dgm:spPr/>
    </dgm:pt>
    <dgm:pt modelId="{958F6D5D-2C8C-479A-BD4C-85C1F4BA7AB3}" type="pres">
      <dgm:prSet presAssocID="{BEE8CADF-490B-4A43-9D66-21237F029D0D}" presName="parentText" presStyleLbl="node1" presStyleIdx="1" presStyleCnt="3">
        <dgm:presLayoutVars>
          <dgm:chMax val="0"/>
          <dgm:bulletEnabled val="1"/>
        </dgm:presLayoutVars>
      </dgm:prSet>
      <dgm:spPr/>
    </dgm:pt>
    <dgm:pt modelId="{D6E1E705-F8FF-45E0-B0E0-E173DF7CFAB4}" type="pres">
      <dgm:prSet presAssocID="{F308B9A9-52CE-4023-8B13-D33888EC5442}" presName="spacer" presStyleCnt="0"/>
      <dgm:spPr/>
    </dgm:pt>
    <dgm:pt modelId="{6BF21C30-4EC4-4F81-84BF-375E4BDDB7AE}" type="pres">
      <dgm:prSet presAssocID="{17FCE3A5-323F-4D62-821D-DEED37E5F857}" presName="parentText" presStyleLbl="node1" presStyleIdx="2" presStyleCnt="3">
        <dgm:presLayoutVars>
          <dgm:chMax val="0"/>
          <dgm:bulletEnabled val="1"/>
        </dgm:presLayoutVars>
      </dgm:prSet>
      <dgm:spPr/>
    </dgm:pt>
  </dgm:ptLst>
  <dgm:cxnLst>
    <dgm:cxn modelId="{E3F4E106-C4C7-457A-A675-D05D6BB00056}" srcId="{9F188DD5-860A-41AB-8FE8-06206FD4C16E}" destId="{4040EA8A-2775-43F0-8680-F3A18D7C6845}" srcOrd="0" destOrd="0" parTransId="{76A84CCB-F78E-4E3B-BEA8-2BDF6A9043E6}" sibTransId="{1148892B-701D-4B4A-924F-C4197EE6F217}"/>
    <dgm:cxn modelId="{3942B151-776C-4789-81EA-6B595E3FC50A}" type="presOf" srcId="{BEE8CADF-490B-4A43-9D66-21237F029D0D}" destId="{958F6D5D-2C8C-479A-BD4C-85C1F4BA7AB3}" srcOrd="0" destOrd="0" presId="urn:microsoft.com/office/officeart/2005/8/layout/vList2"/>
    <dgm:cxn modelId="{F46CC180-1A72-4A29-A322-714114CE025B}" type="presOf" srcId="{4040EA8A-2775-43F0-8680-F3A18D7C6845}" destId="{087D16B1-5731-47D0-8263-EB105EB4B316}" srcOrd="0" destOrd="0" presId="urn:microsoft.com/office/officeart/2005/8/layout/vList2"/>
    <dgm:cxn modelId="{5FEB70BD-9DC9-4640-8BB5-F57B2560A9F5}" srcId="{9F188DD5-860A-41AB-8FE8-06206FD4C16E}" destId="{BEE8CADF-490B-4A43-9D66-21237F029D0D}" srcOrd="1" destOrd="0" parTransId="{B7ADF53D-75A1-4825-BBD2-39E3E49C964B}" sibTransId="{F308B9A9-52CE-4023-8B13-D33888EC5442}"/>
    <dgm:cxn modelId="{C0FF8BDD-2B40-42E5-B390-BBDCF31F7159}" type="presOf" srcId="{9F188DD5-860A-41AB-8FE8-06206FD4C16E}" destId="{B397AA38-47C9-4837-811F-008691A95F49}" srcOrd="0" destOrd="0" presId="urn:microsoft.com/office/officeart/2005/8/layout/vList2"/>
    <dgm:cxn modelId="{707CB5DE-E9C0-4055-943E-9BD9923926E9}" type="presOf" srcId="{17FCE3A5-323F-4D62-821D-DEED37E5F857}" destId="{6BF21C30-4EC4-4F81-84BF-375E4BDDB7AE}" srcOrd="0" destOrd="0" presId="urn:microsoft.com/office/officeart/2005/8/layout/vList2"/>
    <dgm:cxn modelId="{E9E0C5FD-9D8B-4355-9068-31CDDCC3C251}" srcId="{9F188DD5-860A-41AB-8FE8-06206FD4C16E}" destId="{17FCE3A5-323F-4D62-821D-DEED37E5F857}" srcOrd="2" destOrd="0" parTransId="{CE656844-D7A7-4E3E-A742-22F98F15FD6E}" sibTransId="{81759494-8093-4140-AD9C-7FF4BD601F4E}"/>
    <dgm:cxn modelId="{E25FBD9F-130F-4DC5-B1E5-F191CA629A52}" type="presParOf" srcId="{B397AA38-47C9-4837-811F-008691A95F49}" destId="{087D16B1-5731-47D0-8263-EB105EB4B316}" srcOrd="0" destOrd="0" presId="urn:microsoft.com/office/officeart/2005/8/layout/vList2"/>
    <dgm:cxn modelId="{D002DF6D-C27A-4074-A8EB-8F72A74F0A6B}" type="presParOf" srcId="{B397AA38-47C9-4837-811F-008691A95F49}" destId="{CC5D3233-D96B-4E68-B421-29364C09121E}" srcOrd="1" destOrd="0" presId="urn:microsoft.com/office/officeart/2005/8/layout/vList2"/>
    <dgm:cxn modelId="{09D3474B-6C05-43A4-B6FC-30ECE22159A4}" type="presParOf" srcId="{B397AA38-47C9-4837-811F-008691A95F49}" destId="{958F6D5D-2C8C-479A-BD4C-85C1F4BA7AB3}" srcOrd="2" destOrd="0" presId="urn:microsoft.com/office/officeart/2005/8/layout/vList2"/>
    <dgm:cxn modelId="{25A77EF7-395E-4501-B2D9-F1B0D520E001}" type="presParOf" srcId="{B397AA38-47C9-4837-811F-008691A95F49}" destId="{D6E1E705-F8FF-45E0-B0E0-E173DF7CFAB4}" srcOrd="3" destOrd="0" presId="urn:microsoft.com/office/officeart/2005/8/layout/vList2"/>
    <dgm:cxn modelId="{375ECE2B-C97B-4533-944B-773717293BD6}" type="presParOf" srcId="{B397AA38-47C9-4837-811F-008691A95F49}" destId="{6BF21C30-4EC4-4F81-84BF-375E4BDDB7AE}"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8BF61D2-0F6E-4943-B50E-BE193B72D37C}"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F73BADCF-491F-4096-BF30-BB1B17A6E012}">
      <dgm:prSet/>
      <dgm:spPr/>
      <dgm:t>
        <a:bodyPr/>
        <a:lstStyle/>
        <a:p>
          <a:r>
            <a:rPr lang="en-GB"/>
            <a:t>Enhancing Access to healthcare</a:t>
          </a:r>
          <a:endParaRPr lang="en-US"/>
        </a:p>
      </dgm:t>
    </dgm:pt>
    <dgm:pt modelId="{1AC46CCD-AD7F-48E2-92DD-C52DEC23908A}" type="parTrans" cxnId="{3FA46707-0B63-4A44-A3C7-54174BFD0E44}">
      <dgm:prSet/>
      <dgm:spPr/>
      <dgm:t>
        <a:bodyPr/>
        <a:lstStyle/>
        <a:p>
          <a:endParaRPr lang="en-US"/>
        </a:p>
      </dgm:t>
    </dgm:pt>
    <dgm:pt modelId="{E2C081AF-1F58-4E82-B226-CDE95CF59AD9}" type="sibTrans" cxnId="{3FA46707-0B63-4A44-A3C7-54174BFD0E44}">
      <dgm:prSet/>
      <dgm:spPr/>
      <dgm:t>
        <a:bodyPr/>
        <a:lstStyle/>
        <a:p>
          <a:endParaRPr lang="en-US"/>
        </a:p>
      </dgm:t>
    </dgm:pt>
    <dgm:pt modelId="{D2AED18B-82E9-40E6-90B2-DFAB43BD06D1}">
      <dgm:prSet/>
      <dgm:spPr/>
      <dgm:t>
        <a:bodyPr/>
        <a:lstStyle/>
        <a:p>
          <a:r>
            <a:rPr lang="en-GB"/>
            <a:t>Improved Community Health</a:t>
          </a:r>
          <a:endParaRPr lang="en-US"/>
        </a:p>
      </dgm:t>
    </dgm:pt>
    <dgm:pt modelId="{D8BCB357-C427-4C37-A3EC-833545DB3F5D}" type="parTrans" cxnId="{64D77647-8B03-4954-9E56-0FEFD47F15F4}">
      <dgm:prSet/>
      <dgm:spPr/>
      <dgm:t>
        <a:bodyPr/>
        <a:lstStyle/>
        <a:p>
          <a:endParaRPr lang="en-US"/>
        </a:p>
      </dgm:t>
    </dgm:pt>
    <dgm:pt modelId="{43123F4F-8FEC-4674-838B-47B649821B7B}" type="sibTrans" cxnId="{64D77647-8B03-4954-9E56-0FEFD47F15F4}">
      <dgm:prSet/>
      <dgm:spPr/>
      <dgm:t>
        <a:bodyPr/>
        <a:lstStyle/>
        <a:p>
          <a:endParaRPr lang="en-US"/>
        </a:p>
      </dgm:t>
    </dgm:pt>
    <dgm:pt modelId="{FF29D575-F6BF-41A1-A3B2-7D453A342301}">
      <dgm:prSet/>
      <dgm:spPr/>
      <dgm:t>
        <a:bodyPr/>
        <a:lstStyle/>
        <a:p>
          <a:r>
            <a:rPr lang="en-GB"/>
            <a:t>Cost-Effectiveness</a:t>
          </a:r>
          <a:endParaRPr lang="en-US"/>
        </a:p>
      </dgm:t>
    </dgm:pt>
    <dgm:pt modelId="{BC454597-CFFA-4D55-8404-4C7337BC2618}" type="parTrans" cxnId="{2788BEFE-D8B9-447F-8D93-00CE4EEE1BB5}">
      <dgm:prSet/>
      <dgm:spPr/>
      <dgm:t>
        <a:bodyPr/>
        <a:lstStyle/>
        <a:p>
          <a:endParaRPr lang="en-US"/>
        </a:p>
      </dgm:t>
    </dgm:pt>
    <dgm:pt modelId="{D24653FA-5404-44CD-A15F-4AEBBB114ECE}" type="sibTrans" cxnId="{2788BEFE-D8B9-447F-8D93-00CE4EEE1BB5}">
      <dgm:prSet/>
      <dgm:spPr/>
      <dgm:t>
        <a:bodyPr/>
        <a:lstStyle/>
        <a:p>
          <a:endParaRPr lang="en-US"/>
        </a:p>
      </dgm:t>
    </dgm:pt>
    <dgm:pt modelId="{678DB913-8A8C-49E0-A662-146B1383CBB2}">
      <dgm:prSet/>
      <dgm:spPr/>
      <dgm:t>
        <a:bodyPr/>
        <a:lstStyle/>
        <a:p>
          <a:r>
            <a:rPr lang="en-GB" dirty="0"/>
            <a:t>Empowerment of Local Communities</a:t>
          </a:r>
          <a:endParaRPr lang="en-US" dirty="0"/>
        </a:p>
      </dgm:t>
    </dgm:pt>
    <dgm:pt modelId="{6F9376BE-CA25-44C8-A2E6-1D14B990BD9D}" type="parTrans" cxnId="{048778EA-AC97-4F1E-BB3C-11EF3F0469C7}">
      <dgm:prSet/>
      <dgm:spPr/>
      <dgm:t>
        <a:bodyPr/>
        <a:lstStyle/>
        <a:p>
          <a:endParaRPr lang="en-US"/>
        </a:p>
      </dgm:t>
    </dgm:pt>
    <dgm:pt modelId="{6791694C-C62A-41F7-850F-39E214816855}" type="sibTrans" cxnId="{048778EA-AC97-4F1E-BB3C-11EF3F0469C7}">
      <dgm:prSet/>
      <dgm:spPr/>
      <dgm:t>
        <a:bodyPr/>
        <a:lstStyle/>
        <a:p>
          <a:endParaRPr lang="en-US"/>
        </a:p>
      </dgm:t>
    </dgm:pt>
    <dgm:pt modelId="{DE1EDDD4-7D98-4249-8640-9260B0DBBF8C}">
      <dgm:prSet/>
      <dgm:spPr/>
      <dgm:t>
        <a:bodyPr/>
        <a:lstStyle/>
        <a:p>
          <a:r>
            <a:rPr lang="en-GB"/>
            <a:t>Integrated Care</a:t>
          </a:r>
          <a:endParaRPr lang="en-US"/>
        </a:p>
      </dgm:t>
    </dgm:pt>
    <dgm:pt modelId="{6BC72963-6743-4E11-A486-3372166AEAB6}" type="parTrans" cxnId="{1ED7E831-3CD1-4495-A7C0-299F14759ED4}">
      <dgm:prSet/>
      <dgm:spPr/>
      <dgm:t>
        <a:bodyPr/>
        <a:lstStyle/>
        <a:p>
          <a:endParaRPr lang="en-US"/>
        </a:p>
      </dgm:t>
    </dgm:pt>
    <dgm:pt modelId="{A673DBBD-A319-4404-A3CE-55F6FD3A1F3A}" type="sibTrans" cxnId="{1ED7E831-3CD1-4495-A7C0-299F14759ED4}">
      <dgm:prSet/>
      <dgm:spPr/>
      <dgm:t>
        <a:bodyPr/>
        <a:lstStyle/>
        <a:p>
          <a:endParaRPr lang="en-US"/>
        </a:p>
      </dgm:t>
    </dgm:pt>
    <dgm:pt modelId="{C1C1DE4F-C628-4E98-97B3-61F60B1DC34B}">
      <dgm:prSet/>
      <dgm:spPr/>
      <dgm:t>
        <a:bodyPr/>
        <a:lstStyle/>
        <a:p>
          <a:r>
            <a:rPr lang="en-GB" dirty="0"/>
            <a:t>Data-Driven Healthcare</a:t>
          </a:r>
          <a:endParaRPr lang="en-US" dirty="0"/>
        </a:p>
      </dgm:t>
    </dgm:pt>
    <dgm:pt modelId="{BD88504D-06CA-4D95-BF2A-0AA338AF7D90}" type="parTrans" cxnId="{45EB24F3-CC57-48D9-99AF-F626B1A654CB}">
      <dgm:prSet/>
      <dgm:spPr/>
      <dgm:t>
        <a:bodyPr/>
        <a:lstStyle/>
        <a:p>
          <a:endParaRPr lang="en-US"/>
        </a:p>
      </dgm:t>
    </dgm:pt>
    <dgm:pt modelId="{276835D4-6CF6-442A-90C1-783908212CF9}" type="sibTrans" cxnId="{45EB24F3-CC57-48D9-99AF-F626B1A654CB}">
      <dgm:prSet/>
      <dgm:spPr/>
      <dgm:t>
        <a:bodyPr/>
        <a:lstStyle/>
        <a:p>
          <a:endParaRPr lang="en-US"/>
        </a:p>
      </dgm:t>
    </dgm:pt>
    <dgm:pt modelId="{37DE8DDE-BC34-4A08-ACD7-29E7A037ADB8}" type="pres">
      <dgm:prSet presAssocID="{A8BF61D2-0F6E-4943-B50E-BE193B72D37C}" presName="linear" presStyleCnt="0">
        <dgm:presLayoutVars>
          <dgm:animLvl val="lvl"/>
          <dgm:resizeHandles val="exact"/>
        </dgm:presLayoutVars>
      </dgm:prSet>
      <dgm:spPr/>
    </dgm:pt>
    <dgm:pt modelId="{D81A1498-D0E3-4352-9D49-D1EA0E25E3EF}" type="pres">
      <dgm:prSet presAssocID="{F73BADCF-491F-4096-BF30-BB1B17A6E012}" presName="parentText" presStyleLbl="node1" presStyleIdx="0" presStyleCnt="6">
        <dgm:presLayoutVars>
          <dgm:chMax val="0"/>
          <dgm:bulletEnabled val="1"/>
        </dgm:presLayoutVars>
      </dgm:prSet>
      <dgm:spPr/>
    </dgm:pt>
    <dgm:pt modelId="{4FE88E2E-5CF9-43D3-A247-F944D3AF8E1A}" type="pres">
      <dgm:prSet presAssocID="{E2C081AF-1F58-4E82-B226-CDE95CF59AD9}" presName="spacer" presStyleCnt="0"/>
      <dgm:spPr/>
    </dgm:pt>
    <dgm:pt modelId="{F056DB1A-13D8-4033-B8D5-69C118B9F223}" type="pres">
      <dgm:prSet presAssocID="{D2AED18B-82E9-40E6-90B2-DFAB43BD06D1}" presName="parentText" presStyleLbl="node1" presStyleIdx="1" presStyleCnt="6">
        <dgm:presLayoutVars>
          <dgm:chMax val="0"/>
          <dgm:bulletEnabled val="1"/>
        </dgm:presLayoutVars>
      </dgm:prSet>
      <dgm:spPr/>
    </dgm:pt>
    <dgm:pt modelId="{7CD1F2AB-8611-438A-AFC4-D07052A84D80}" type="pres">
      <dgm:prSet presAssocID="{43123F4F-8FEC-4674-838B-47B649821B7B}" presName="spacer" presStyleCnt="0"/>
      <dgm:spPr/>
    </dgm:pt>
    <dgm:pt modelId="{390448A5-20AE-477B-998D-EA8F378AF1B9}" type="pres">
      <dgm:prSet presAssocID="{FF29D575-F6BF-41A1-A3B2-7D453A342301}" presName="parentText" presStyleLbl="node1" presStyleIdx="2" presStyleCnt="6">
        <dgm:presLayoutVars>
          <dgm:chMax val="0"/>
          <dgm:bulletEnabled val="1"/>
        </dgm:presLayoutVars>
      </dgm:prSet>
      <dgm:spPr/>
    </dgm:pt>
    <dgm:pt modelId="{EB0572B0-1454-45C3-AB2F-FBDDB2CEDD89}" type="pres">
      <dgm:prSet presAssocID="{D24653FA-5404-44CD-A15F-4AEBBB114ECE}" presName="spacer" presStyleCnt="0"/>
      <dgm:spPr/>
    </dgm:pt>
    <dgm:pt modelId="{F022BCAC-8F80-459D-B32D-A87F92C12C25}" type="pres">
      <dgm:prSet presAssocID="{678DB913-8A8C-49E0-A662-146B1383CBB2}" presName="parentText" presStyleLbl="node1" presStyleIdx="3" presStyleCnt="6">
        <dgm:presLayoutVars>
          <dgm:chMax val="0"/>
          <dgm:bulletEnabled val="1"/>
        </dgm:presLayoutVars>
      </dgm:prSet>
      <dgm:spPr/>
    </dgm:pt>
    <dgm:pt modelId="{F9DEF628-4C4E-4663-9C38-333B1F9A5C6A}" type="pres">
      <dgm:prSet presAssocID="{6791694C-C62A-41F7-850F-39E214816855}" presName="spacer" presStyleCnt="0"/>
      <dgm:spPr/>
    </dgm:pt>
    <dgm:pt modelId="{9D731EA6-B3BE-4003-BDF9-8DC3AD7F9AD4}" type="pres">
      <dgm:prSet presAssocID="{DE1EDDD4-7D98-4249-8640-9260B0DBBF8C}" presName="parentText" presStyleLbl="node1" presStyleIdx="4" presStyleCnt="6">
        <dgm:presLayoutVars>
          <dgm:chMax val="0"/>
          <dgm:bulletEnabled val="1"/>
        </dgm:presLayoutVars>
      </dgm:prSet>
      <dgm:spPr/>
    </dgm:pt>
    <dgm:pt modelId="{00545EBE-CB23-4388-9CBC-5E90DCB1513A}" type="pres">
      <dgm:prSet presAssocID="{A673DBBD-A319-4404-A3CE-55F6FD3A1F3A}" presName="spacer" presStyleCnt="0"/>
      <dgm:spPr/>
    </dgm:pt>
    <dgm:pt modelId="{2AC551A3-CCBB-4E2F-AFB2-BA9C384C4709}" type="pres">
      <dgm:prSet presAssocID="{C1C1DE4F-C628-4E98-97B3-61F60B1DC34B}" presName="parentText" presStyleLbl="node1" presStyleIdx="5" presStyleCnt="6">
        <dgm:presLayoutVars>
          <dgm:chMax val="0"/>
          <dgm:bulletEnabled val="1"/>
        </dgm:presLayoutVars>
      </dgm:prSet>
      <dgm:spPr/>
    </dgm:pt>
  </dgm:ptLst>
  <dgm:cxnLst>
    <dgm:cxn modelId="{3FA46707-0B63-4A44-A3C7-54174BFD0E44}" srcId="{A8BF61D2-0F6E-4943-B50E-BE193B72D37C}" destId="{F73BADCF-491F-4096-BF30-BB1B17A6E012}" srcOrd="0" destOrd="0" parTransId="{1AC46CCD-AD7F-48E2-92DD-C52DEC23908A}" sibTransId="{E2C081AF-1F58-4E82-B226-CDE95CF59AD9}"/>
    <dgm:cxn modelId="{49B2752C-3B03-4133-BDF6-8D2758040481}" type="presOf" srcId="{C1C1DE4F-C628-4E98-97B3-61F60B1DC34B}" destId="{2AC551A3-CCBB-4E2F-AFB2-BA9C384C4709}" srcOrd="0" destOrd="0" presId="urn:microsoft.com/office/officeart/2005/8/layout/vList2"/>
    <dgm:cxn modelId="{1ED7E831-3CD1-4495-A7C0-299F14759ED4}" srcId="{A8BF61D2-0F6E-4943-B50E-BE193B72D37C}" destId="{DE1EDDD4-7D98-4249-8640-9260B0DBBF8C}" srcOrd="4" destOrd="0" parTransId="{6BC72963-6743-4E11-A486-3372166AEAB6}" sibTransId="{A673DBBD-A319-4404-A3CE-55F6FD3A1F3A}"/>
    <dgm:cxn modelId="{64384D33-E258-4D13-846B-F8A25760CB96}" type="presOf" srcId="{F73BADCF-491F-4096-BF30-BB1B17A6E012}" destId="{D81A1498-D0E3-4352-9D49-D1EA0E25E3EF}" srcOrd="0" destOrd="0" presId="urn:microsoft.com/office/officeart/2005/8/layout/vList2"/>
    <dgm:cxn modelId="{64D77647-8B03-4954-9E56-0FEFD47F15F4}" srcId="{A8BF61D2-0F6E-4943-B50E-BE193B72D37C}" destId="{D2AED18B-82E9-40E6-90B2-DFAB43BD06D1}" srcOrd="1" destOrd="0" parTransId="{D8BCB357-C427-4C37-A3EC-833545DB3F5D}" sibTransId="{43123F4F-8FEC-4674-838B-47B649821B7B}"/>
    <dgm:cxn modelId="{70BFF655-F772-4591-A0A3-2B4DE0E03927}" type="presOf" srcId="{FF29D575-F6BF-41A1-A3B2-7D453A342301}" destId="{390448A5-20AE-477B-998D-EA8F378AF1B9}" srcOrd="0" destOrd="0" presId="urn:microsoft.com/office/officeart/2005/8/layout/vList2"/>
    <dgm:cxn modelId="{C2E1EA8F-E350-4558-883D-7909FFCF80DE}" type="presOf" srcId="{A8BF61D2-0F6E-4943-B50E-BE193B72D37C}" destId="{37DE8DDE-BC34-4A08-ACD7-29E7A037ADB8}" srcOrd="0" destOrd="0" presId="urn:microsoft.com/office/officeart/2005/8/layout/vList2"/>
    <dgm:cxn modelId="{77E5B29E-8E85-4197-9161-A5CE845C0176}" type="presOf" srcId="{DE1EDDD4-7D98-4249-8640-9260B0DBBF8C}" destId="{9D731EA6-B3BE-4003-BDF9-8DC3AD7F9AD4}" srcOrd="0" destOrd="0" presId="urn:microsoft.com/office/officeart/2005/8/layout/vList2"/>
    <dgm:cxn modelId="{048778EA-AC97-4F1E-BB3C-11EF3F0469C7}" srcId="{A8BF61D2-0F6E-4943-B50E-BE193B72D37C}" destId="{678DB913-8A8C-49E0-A662-146B1383CBB2}" srcOrd="3" destOrd="0" parTransId="{6F9376BE-CA25-44C8-A2E6-1D14B990BD9D}" sibTransId="{6791694C-C62A-41F7-850F-39E214816855}"/>
    <dgm:cxn modelId="{45EB24F3-CC57-48D9-99AF-F626B1A654CB}" srcId="{A8BF61D2-0F6E-4943-B50E-BE193B72D37C}" destId="{C1C1DE4F-C628-4E98-97B3-61F60B1DC34B}" srcOrd="5" destOrd="0" parTransId="{BD88504D-06CA-4D95-BF2A-0AA338AF7D90}" sibTransId="{276835D4-6CF6-442A-90C1-783908212CF9}"/>
    <dgm:cxn modelId="{A10934F6-91A4-4368-B972-E0A089F36D4A}" type="presOf" srcId="{D2AED18B-82E9-40E6-90B2-DFAB43BD06D1}" destId="{F056DB1A-13D8-4033-B8D5-69C118B9F223}" srcOrd="0" destOrd="0" presId="urn:microsoft.com/office/officeart/2005/8/layout/vList2"/>
    <dgm:cxn modelId="{A713A1F6-8C8B-4335-A240-E96098DB8550}" type="presOf" srcId="{678DB913-8A8C-49E0-A662-146B1383CBB2}" destId="{F022BCAC-8F80-459D-B32D-A87F92C12C25}" srcOrd="0" destOrd="0" presId="urn:microsoft.com/office/officeart/2005/8/layout/vList2"/>
    <dgm:cxn modelId="{2788BEFE-D8B9-447F-8D93-00CE4EEE1BB5}" srcId="{A8BF61D2-0F6E-4943-B50E-BE193B72D37C}" destId="{FF29D575-F6BF-41A1-A3B2-7D453A342301}" srcOrd="2" destOrd="0" parTransId="{BC454597-CFFA-4D55-8404-4C7337BC2618}" sibTransId="{D24653FA-5404-44CD-A15F-4AEBBB114ECE}"/>
    <dgm:cxn modelId="{AE4EB1F3-AB44-42A7-8089-98ADC130244D}" type="presParOf" srcId="{37DE8DDE-BC34-4A08-ACD7-29E7A037ADB8}" destId="{D81A1498-D0E3-4352-9D49-D1EA0E25E3EF}" srcOrd="0" destOrd="0" presId="urn:microsoft.com/office/officeart/2005/8/layout/vList2"/>
    <dgm:cxn modelId="{FB1BC18B-8109-42BD-AEA9-EF8CBF4C261B}" type="presParOf" srcId="{37DE8DDE-BC34-4A08-ACD7-29E7A037ADB8}" destId="{4FE88E2E-5CF9-43D3-A247-F944D3AF8E1A}" srcOrd="1" destOrd="0" presId="urn:microsoft.com/office/officeart/2005/8/layout/vList2"/>
    <dgm:cxn modelId="{2FB42A9E-2133-44A5-993E-697628514C0C}" type="presParOf" srcId="{37DE8DDE-BC34-4A08-ACD7-29E7A037ADB8}" destId="{F056DB1A-13D8-4033-B8D5-69C118B9F223}" srcOrd="2" destOrd="0" presId="urn:microsoft.com/office/officeart/2005/8/layout/vList2"/>
    <dgm:cxn modelId="{FE845481-D89B-4160-86FC-EFD4405922CB}" type="presParOf" srcId="{37DE8DDE-BC34-4A08-ACD7-29E7A037ADB8}" destId="{7CD1F2AB-8611-438A-AFC4-D07052A84D80}" srcOrd="3" destOrd="0" presId="urn:microsoft.com/office/officeart/2005/8/layout/vList2"/>
    <dgm:cxn modelId="{8A23E46F-5CE1-4EEE-B2DB-7574BA342F7A}" type="presParOf" srcId="{37DE8DDE-BC34-4A08-ACD7-29E7A037ADB8}" destId="{390448A5-20AE-477B-998D-EA8F378AF1B9}" srcOrd="4" destOrd="0" presId="urn:microsoft.com/office/officeart/2005/8/layout/vList2"/>
    <dgm:cxn modelId="{71DFC8CA-E4FE-4991-B693-2BFDEAE76AB4}" type="presParOf" srcId="{37DE8DDE-BC34-4A08-ACD7-29E7A037ADB8}" destId="{EB0572B0-1454-45C3-AB2F-FBDDB2CEDD89}" srcOrd="5" destOrd="0" presId="urn:microsoft.com/office/officeart/2005/8/layout/vList2"/>
    <dgm:cxn modelId="{B713A7EA-023B-4A5D-A719-C59E6240CDFC}" type="presParOf" srcId="{37DE8DDE-BC34-4A08-ACD7-29E7A037ADB8}" destId="{F022BCAC-8F80-459D-B32D-A87F92C12C25}" srcOrd="6" destOrd="0" presId="urn:microsoft.com/office/officeart/2005/8/layout/vList2"/>
    <dgm:cxn modelId="{910DA3CC-2780-4E05-AC2D-5177BB381E64}" type="presParOf" srcId="{37DE8DDE-BC34-4A08-ACD7-29E7A037ADB8}" destId="{F9DEF628-4C4E-4663-9C38-333B1F9A5C6A}" srcOrd="7" destOrd="0" presId="urn:microsoft.com/office/officeart/2005/8/layout/vList2"/>
    <dgm:cxn modelId="{4A43867D-2993-484F-B1ED-B90B281CC638}" type="presParOf" srcId="{37DE8DDE-BC34-4A08-ACD7-29E7A037ADB8}" destId="{9D731EA6-B3BE-4003-BDF9-8DC3AD7F9AD4}" srcOrd="8" destOrd="0" presId="urn:microsoft.com/office/officeart/2005/8/layout/vList2"/>
    <dgm:cxn modelId="{A8A4BAC2-CAC2-4D47-8060-5A0664EBF180}" type="presParOf" srcId="{37DE8DDE-BC34-4A08-ACD7-29E7A037ADB8}" destId="{00545EBE-CB23-4388-9CBC-5E90DCB1513A}" srcOrd="9" destOrd="0" presId="urn:microsoft.com/office/officeart/2005/8/layout/vList2"/>
    <dgm:cxn modelId="{1E14781C-840E-4802-BCD2-427FAC79D1D3}" type="presParOf" srcId="{37DE8DDE-BC34-4A08-ACD7-29E7A037ADB8}" destId="{2AC551A3-CCBB-4E2F-AFB2-BA9C384C4709}"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21AFF21-411B-4409-9380-52C13EAD174A}"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8344034D-B09C-412B-843D-63B7D40DA57A}">
      <dgm:prSet/>
      <dgm:spPr/>
      <dgm:t>
        <a:bodyPr/>
        <a:lstStyle/>
        <a:p>
          <a:r>
            <a:rPr lang="en-GB" b="0" i="0" dirty="0"/>
            <a:t>Fusion of multiple healthcare service</a:t>
          </a:r>
          <a:endParaRPr lang="en-US" dirty="0"/>
        </a:p>
      </dgm:t>
    </dgm:pt>
    <dgm:pt modelId="{182BCEF9-5C9E-4795-94ED-3CC2CF13B1AA}" type="parTrans" cxnId="{B9EE3849-D298-45C5-ADE2-B836CB78170A}">
      <dgm:prSet/>
      <dgm:spPr/>
      <dgm:t>
        <a:bodyPr/>
        <a:lstStyle/>
        <a:p>
          <a:endParaRPr lang="en-US"/>
        </a:p>
      </dgm:t>
    </dgm:pt>
    <dgm:pt modelId="{DE4C3324-D324-4ECC-91BC-DEE451F71241}" type="sibTrans" cxnId="{B9EE3849-D298-45C5-ADE2-B836CB78170A}">
      <dgm:prSet/>
      <dgm:spPr/>
      <dgm:t>
        <a:bodyPr/>
        <a:lstStyle/>
        <a:p>
          <a:endParaRPr lang="en-US"/>
        </a:p>
      </dgm:t>
    </dgm:pt>
    <dgm:pt modelId="{18D8D82A-003C-4E9D-B2B9-DD7E80C2EA0E}">
      <dgm:prSet/>
      <dgm:spPr/>
      <dgm:t>
        <a:bodyPr/>
        <a:lstStyle/>
        <a:p>
          <a:r>
            <a:rPr lang="en-GB" b="0" i="0" dirty="0"/>
            <a:t>Teamwork amongst healthcare professionals</a:t>
          </a:r>
          <a:endParaRPr lang="en-US" dirty="0"/>
        </a:p>
      </dgm:t>
    </dgm:pt>
    <dgm:pt modelId="{1FC0E27E-325B-4243-A07E-DF02C13B4174}" type="parTrans" cxnId="{4DAE6D5C-7CBE-46EF-B811-F1B43A7D6A6D}">
      <dgm:prSet/>
      <dgm:spPr/>
      <dgm:t>
        <a:bodyPr/>
        <a:lstStyle/>
        <a:p>
          <a:endParaRPr lang="en-US"/>
        </a:p>
      </dgm:t>
    </dgm:pt>
    <dgm:pt modelId="{6D236BF3-4CCC-4824-BA54-48F4BF3AD167}" type="sibTrans" cxnId="{4DAE6D5C-7CBE-46EF-B811-F1B43A7D6A6D}">
      <dgm:prSet/>
      <dgm:spPr/>
      <dgm:t>
        <a:bodyPr/>
        <a:lstStyle/>
        <a:p>
          <a:endParaRPr lang="en-US"/>
        </a:p>
      </dgm:t>
    </dgm:pt>
    <dgm:pt modelId="{C24B9033-1D51-4987-B59A-F3A846073FCC}">
      <dgm:prSet/>
      <dgm:spPr/>
      <dgm:t>
        <a:bodyPr/>
        <a:lstStyle/>
        <a:p>
          <a:r>
            <a:rPr lang="en-GB" b="0" i="0" dirty="0"/>
            <a:t>Community-based treatment</a:t>
          </a:r>
          <a:endParaRPr lang="en-US" dirty="0"/>
        </a:p>
      </dgm:t>
    </dgm:pt>
    <dgm:pt modelId="{229BD534-5279-4F3E-ADF7-C30193E3038B}" type="parTrans" cxnId="{BB0ACE7D-8BB3-472C-8ACE-387B28169442}">
      <dgm:prSet/>
      <dgm:spPr/>
      <dgm:t>
        <a:bodyPr/>
        <a:lstStyle/>
        <a:p>
          <a:endParaRPr lang="en-US"/>
        </a:p>
      </dgm:t>
    </dgm:pt>
    <dgm:pt modelId="{EBC83D43-6218-4C5B-BD41-8CD83337342C}" type="sibTrans" cxnId="{BB0ACE7D-8BB3-472C-8ACE-387B28169442}">
      <dgm:prSet/>
      <dgm:spPr/>
      <dgm:t>
        <a:bodyPr/>
        <a:lstStyle/>
        <a:p>
          <a:endParaRPr lang="en-US"/>
        </a:p>
      </dgm:t>
    </dgm:pt>
    <dgm:pt modelId="{7089D13A-7C04-4BE3-BD70-A0C380437C6F}">
      <dgm:prSet/>
      <dgm:spPr/>
      <dgm:t>
        <a:bodyPr/>
        <a:lstStyle/>
        <a:p>
          <a:r>
            <a:rPr lang="en-GB" b="0" i="0" dirty="0"/>
            <a:t>Patient-centered methods</a:t>
          </a:r>
          <a:endParaRPr lang="en-US" dirty="0"/>
        </a:p>
      </dgm:t>
    </dgm:pt>
    <dgm:pt modelId="{C54ED9D6-4C64-43A3-8C18-132FCABE0828}" type="parTrans" cxnId="{287B386F-9D64-4739-B96D-EBB94B9F81D1}">
      <dgm:prSet/>
      <dgm:spPr/>
      <dgm:t>
        <a:bodyPr/>
        <a:lstStyle/>
        <a:p>
          <a:endParaRPr lang="en-US"/>
        </a:p>
      </dgm:t>
    </dgm:pt>
    <dgm:pt modelId="{B9E9F263-C3EB-4C00-86B5-108C1959AE1A}" type="sibTrans" cxnId="{287B386F-9D64-4739-B96D-EBB94B9F81D1}">
      <dgm:prSet/>
      <dgm:spPr/>
      <dgm:t>
        <a:bodyPr/>
        <a:lstStyle/>
        <a:p>
          <a:endParaRPr lang="en-US"/>
        </a:p>
      </dgm:t>
    </dgm:pt>
    <dgm:pt modelId="{1CCA1BF3-70BA-42D5-8412-7FC357326CC0}">
      <dgm:prSet/>
      <dgm:spPr/>
      <dgm:t>
        <a:bodyPr/>
        <a:lstStyle/>
        <a:p>
          <a:r>
            <a:rPr lang="en-GB" b="0" i="0" dirty="0"/>
            <a:t>Reduce healthcare inequities</a:t>
          </a:r>
          <a:endParaRPr lang="en-US" dirty="0"/>
        </a:p>
      </dgm:t>
    </dgm:pt>
    <dgm:pt modelId="{EA712B73-3DA6-4CD7-8A93-F8D654E10032}" type="parTrans" cxnId="{5D107134-E79F-4964-AEAA-3CA3E0EA1FF9}">
      <dgm:prSet/>
      <dgm:spPr/>
      <dgm:t>
        <a:bodyPr/>
        <a:lstStyle/>
        <a:p>
          <a:endParaRPr lang="en-US"/>
        </a:p>
      </dgm:t>
    </dgm:pt>
    <dgm:pt modelId="{3ED0D3D2-1865-4360-B320-471B32D35361}" type="sibTrans" cxnId="{5D107134-E79F-4964-AEAA-3CA3E0EA1FF9}">
      <dgm:prSet/>
      <dgm:spPr/>
      <dgm:t>
        <a:bodyPr/>
        <a:lstStyle/>
        <a:p>
          <a:endParaRPr lang="en-US"/>
        </a:p>
      </dgm:t>
    </dgm:pt>
    <dgm:pt modelId="{31D4ACFA-1C14-4CC6-844E-6CDD09067BD2}">
      <dgm:prSet/>
      <dgm:spPr/>
      <dgm:t>
        <a:bodyPr/>
        <a:lstStyle/>
        <a:p>
          <a:r>
            <a:rPr lang="en-GB" b="0" i="0" dirty="0"/>
            <a:t>Policymakers develop equitable and inclusive healthcare system</a:t>
          </a:r>
          <a:endParaRPr lang="en-US" dirty="0"/>
        </a:p>
      </dgm:t>
    </dgm:pt>
    <dgm:pt modelId="{A38F76B4-0B54-425A-B004-5F94AA8E0A90}" type="parTrans" cxnId="{BD241279-4EC7-4E11-9168-EF1BC670217B}">
      <dgm:prSet/>
      <dgm:spPr/>
      <dgm:t>
        <a:bodyPr/>
        <a:lstStyle/>
        <a:p>
          <a:endParaRPr lang="en-US"/>
        </a:p>
      </dgm:t>
    </dgm:pt>
    <dgm:pt modelId="{73E2249A-B5EF-4AF8-AD55-D3F69CB2CBDC}" type="sibTrans" cxnId="{BD241279-4EC7-4E11-9168-EF1BC670217B}">
      <dgm:prSet/>
      <dgm:spPr/>
      <dgm:t>
        <a:bodyPr/>
        <a:lstStyle/>
        <a:p>
          <a:endParaRPr lang="en-US"/>
        </a:p>
      </dgm:t>
    </dgm:pt>
    <dgm:pt modelId="{D94C7858-0F86-4B6B-A785-BC2A6E990BD7}" type="pres">
      <dgm:prSet presAssocID="{321AFF21-411B-4409-9380-52C13EAD174A}" presName="vert0" presStyleCnt="0">
        <dgm:presLayoutVars>
          <dgm:dir/>
          <dgm:animOne val="branch"/>
          <dgm:animLvl val="lvl"/>
        </dgm:presLayoutVars>
      </dgm:prSet>
      <dgm:spPr/>
    </dgm:pt>
    <dgm:pt modelId="{3ACB9A2A-2F52-40C4-B3F9-B1FB5E69CC11}" type="pres">
      <dgm:prSet presAssocID="{8344034D-B09C-412B-843D-63B7D40DA57A}" presName="thickLine" presStyleLbl="alignNode1" presStyleIdx="0" presStyleCnt="6"/>
      <dgm:spPr/>
    </dgm:pt>
    <dgm:pt modelId="{D81E88B3-3E87-466E-B1CC-4B01075B7E1D}" type="pres">
      <dgm:prSet presAssocID="{8344034D-B09C-412B-843D-63B7D40DA57A}" presName="horz1" presStyleCnt="0"/>
      <dgm:spPr/>
    </dgm:pt>
    <dgm:pt modelId="{F498510F-C56E-4DD3-BB61-DE937D3619EA}" type="pres">
      <dgm:prSet presAssocID="{8344034D-B09C-412B-843D-63B7D40DA57A}" presName="tx1" presStyleLbl="revTx" presStyleIdx="0" presStyleCnt="6"/>
      <dgm:spPr/>
    </dgm:pt>
    <dgm:pt modelId="{F4703C58-761F-462A-8950-AD85F89CA81D}" type="pres">
      <dgm:prSet presAssocID="{8344034D-B09C-412B-843D-63B7D40DA57A}" presName="vert1" presStyleCnt="0"/>
      <dgm:spPr/>
    </dgm:pt>
    <dgm:pt modelId="{DB6F6DC7-194E-4262-AC47-1DC834F7FCBA}" type="pres">
      <dgm:prSet presAssocID="{18D8D82A-003C-4E9D-B2B9-DD7E80C2EA0E}" presName="thickLine" presStyleLbl="alignNode1" presStyleIdx="1" presStyleCnt="6"/>
      <dgm:spPr/>
    </dgm:pt>
    <dgm:pt modelId="{6D820185-7128-441C-BE5A-1FD4BE2DD402}" type="pres">
      <dgm:prSet presAssocID="{18D8D82A-003C-4E9D-B2B9-DD7E80C2EA0E}" presName="horz1" presStyleCnt="0"/>
      <dgm:spPr/>
    </dgm:pt>
    <dgm:pt modelId="{E831F845-1E4C-4CDA-A88F-D45B36152887}" type="pres">
      <dgm:prSet presAssocID="{18D8D82A-003C-4E9D-B2B9-DD7E80C2EA0E}" presName="tx1" presStyleLbl="revTx" presStyleIdx="1" presStyleCnt="6"/>
      <dgm:spPr/>
    </dgm:pt>
    <dgm:pt modelId="{3FCD6CFC-9354-41B9-AC8E-C810B8374B35}" type="pres">
      <dgm:prSet presAssocID="{18D8D82A-003C-4E9D-B2B9-DD7E80C2EA0E}" presName="vert1" presStyleCnt="0"/>
      <dgm:spPr/>
    </dgm:pt>
    <dgm:pt modelId="{586AC6CD-0CCC-48FE-A5F0-ECC0CDBE7DA4}" type="pres">
      <dgm:prSet presAssocID="{C24B9033-1D51-4987-B59A-F3A846073FCC}" presName="thickLine" presStyleLbl="alignNode1" presStyleIdx="2" presStyleCnt="6"/>
      <dgm:spPr/>
    </dgm:pt>
    <dgm:pt modelId="{5A838C3D-6285-4AFA-981C-6D5B5A287119}" type="pres">
      <dgm:prSet presAssocID="{C24B9033-1D51-4987-B59A-F3A846073FCC}" presName="horz1" presStyleCnt="0"/>
      <dgm:spPr/>
    </dgm:pt>
    <dgm:pt modelId="{56E71DB7-5224-43C4-A9AD-E124B3BE01CC}" type="pres">
      <dgm:prSet presAssocID="{C24B9033-1D51-4987-B59A-F3A846073FCC}" presName="tx1" presStyleLbl="revTx" presStyleIdx="2" presStyleCnt="6"/>
      <dgm:spPr/>
    </dgm:pt>
    <dgm:pt modelId="{B9E8DAF7-1052-4018-9B46-5A10FAA0354B}" type="pres">
      <dgm:prSet presAssocID="{C24B9033-1D51-4987-B59A-F3A846073FCC}" presName="vert1" presStyleCnt="0"/>
      <dgm:spPr/>
    </dgm:pt>
    <dgm:pt modelId="{9E29A26D-0620-4737-99FE-3788DA29CAF5}" type="pres">
      <dgm:prSet presAssocID="{7089D13A-7C04-4BE3-BD70-A0C380437C6F}" presName="thickLine" presStyleLbl="alignNode1" presStyleIdx="3" presStyleCnt="6"/>
      <dgm:spPr/>
    </dgm:pt>
    <dgm:pt modelId="{E9A036A6-2087-4F35-BEB2-64D1DB33F957}" type="pres">
      <dgm:prSet presAssocID="{7089D13A-7C04-4BE3-BD70-A0C380437C6F}" presName="horz1" presStyleCnt="0"/>
      <dgm:spPr/>
    </dgm:pt>
    <dgm:pt modelId="{0FC30363-445D-4D0C-A9D6-AFD93C1622EF}" type="pres">
      <dgm:prSet presAssocID="{7089D13A-7C04-4BE3-BD70-A0C380437C6F}" presName="tx1" presStyleLbl="revTx" presStyleIdx="3" presStyleCnt="6"/>
      <dgm:spPr/>
    </dgm:pt>
    <dgm:pt modelId="{B5C2E3E6-EDE2-4374-9C50-5F612C1B5CEB}" type="pres">
      <dgm:prSet presAssocID="{7089D13A-7C04-4BE3-BD70-A0C380437C6F}" presName="vert1" presStyleCnt="0"/>
      <dgm:spPr/>
    </dgm:pt>
    <dgm:pt modelId="{B17467DA-274F-44C5-B344-B0B638DF0FD0}" type="pres">
      <dgm:prSet presAssocID="{1CCA1BF3-70BA-42D5-8412-7FC357326CC0}" presName="thickLine" presStyleLbl="alignNode1" presStyleIdx="4" presStyleCnt="6"/>
      <dgm:spPr/>
    </dgm:pt>
    <dgm:pt modelId="{11C9B8B0-063C-4B9F-8066-CC7681129F8F}" type="pres">
      <dgm:prSet presAssocID="{1CCA1BF3-70BA-42D5-8412-7FC357326CC0}" presName="horz1" presStyleCnt="0"/>
      <dgm:spPr/>
    </dgm:pt>
    <dgm:pt modelId="{A2761C4E-E009-45FF-805B-3908F297C1BA}" type="pres">
      <dgm:prSet presAssocID="{1CCA1BF3-70BA-42D5-8412-7FC357326CC0}" presName="tx1" presStyleLbl="revTx" presStyleIdx="4" presStyleCnt="6"/>
      <dgm:spPr/>
    </dgm:pt>
    <dgm:pt modelId="{D68B8D28-897F-4E03-96D6-CB96B4DD1B2E}" type="pres">
      <dgm:prSet presAssocID="{1CCA1BF3-70BA-42D5-8412-7FC357326CC0}" presName="vert1" presStyleCnt="0"/>
      <dgm:spPr/>
    </dgm:pt>
    <dgm:pt modelId="{1DA6020D-D4FC-4115-A2BF-372324E5CF15}" type="pres">
      <dgm:prSet presAssocID="{31D4ACFA-1C14-4CC6-844E-6CDD09067BD2}" presName="thickLine" presStyleLbl="alignNode1" presStyleIdx="5" presStyleCnt="6"/>
      <dgm:spPr/>
    </dgm:pt>
    <dgm:pt modelId="{DDAD264E-B573-4C93-A9B3-7F5CA941C2D8}" type="pres">
      <dgm:prSet presAssocID="{31D4ACFA-1C14-4CC6-844E-6CDD09067BD2}" presName="horz1" presStyleCnt="0"/>
      <dgm:spPr/>
    </dgm:pt>
    <dgm:pt modelId="{9F0104CE-28A8-4E6D-8AF7-FAFC2ABB528C}" type="pres">
      <dgm:prSet presAssocID="{31D4ACFA-1C14-4CC6-844E-6CDD09067BD2}" presName="tx1" presStyleLbl="revTx" presStyleIdx="5" presStyleCnt="6"/>
      <dgm:spPr/>
    </dgm:pt>
    <dgm:pt modelId="{54D1D5A6-A232-4D59-8A5B-B1696F9AA4D4}" type="pres">
      <dgm:prSet presAssocID="{31D4ACFA-1C14-4CC6-844E-6CDD09067BD2}" presName="vert1" presStyleCnt="0"/>
      <dgm:spPr/>
    </dgm:pt>
  </dgm:ptLst>
  <dgm:cxnLst>
    <dgm:cxn modelId="{5D107134-E79F-4964-AEAA-3CA3E0EA1FF9}" srcId="{321AFF21-411B-4409-9380-52C13EAD174A}" destId="{1CCA1BF3-70BA-42D5-8412-7FC357326CC0}" srcOrd="4" destOrd="0" parTransId="{EA712B73-3DA6-4CD7-8A93-F8D654E10032}" sibTransId="{3ED0D3D2-1865-4360-B320-471B32D35361}"/>
    <dgm:cxn modelId="{4DAE6D5C-7CBE-46EF-B811-F1B43A7D6A6D}" srcId="{321AFF21-411B-4409-9380-52C13EAD174A}" destId="{18D8D82A-003C-4E9D-B2B9-DD7E80C2EA0E}" srcOrd="1" destOrd="0" parTransId="{1FC0E27E-325B-4243-A07E-DF02C13B4174}" sibTransId="{6D236BF3-4CCC-4824-BA54-48F4BF3AD167}"/>
    <dgm:cxn modelId="{A5EB8368-AE6C-457D-965E-4D695CC3CC23}" type="presOf" srcId="{18D8D82A-003C-4E9D-B2B9-DD7E80C2EA0E}" destId="{E831F845-1E4C-4CDA-A88F-D45B36152887}" srcOrd="0" destOrd="0" presId="urn:microsoft.com/office/officeart/2008/layout/LinedList"/>
    <dgm:cxn modelId="{B9EE3849-D298-45C5-ADE2-B836CB78170A}" srcId="{321AFF21-411B-4409-9380-52C13EAD174A}" destId="{8344034D-B09C-412B-843D-63B7D40DA57A}" srcOrd="0" destOrd="0" parTransId="{182BCEF9-5C9E-4795-94ED-3CC2CF13B1AA}" sibTransId="{DE4C3324-D324-4ECC-91BC-DEE451F71241}"/>
    <dgm:cxn modelId="{287B386F-9D64-4739-B96D-EBB94B9F81D1}" srcId="{321AFF21-411B-4409-9380-52C13EAD174A}" destId="{7089D13A-7C04-4BE3-BD70-A0C380437C6F}" srcOrd="3" destOrd="0" parTransId="{C54ED9D6-4C64-43A3-8C18-132FCABE0828}" sibTransId="{B9E9F263-C3EB-4C00-86B5-108C1959AE1A}"/>
    <dgm:cxn modelId="{0FC98073-D096-4249-88E1-1B6CF6832B4F}" type="presOf" srcId="{1CCA1BF3-70BA-42D5-8412-7FC357326CC0}" destId="{A2761C4E-E009-45FF-805B-3908F297C1BA}" srcOrd="0" destOrd="0" presId="urn:microsoft.com/office/officeart/2008/layout/LinedList"/>
    <dgm:cxn modelId="{F634D677-655A-427D-B1E2-BD809981CB01}" type="presOf" srcId="{321AFF21-411B-4409-9380-52C13EAD174A}" destId="{D94C7858-0F86-4B6B-A785-BC2A6E990BD7}" srcOrd="0" destOrd="0" presId="urn:microsoft.com/office/officeart/2008/layout/LinedList"/>
    <dgm:cxn modelId="{BD241279-4EC7-4E11-9168-EF1BC670217B}" srcId="{321AFF21-411B-4409-9380-52C13EAD174A}" destId="{31D4ACFA-1C14-4CC6-844E-6CDD09067BD2}" srcOrd="5" destOrd="0" parTransId="{A38F76B4-0B54-425A-B004-5F94AA8E0A90}" sibTransId="{73E2249A-B5EF-4AF8-AD55-D3F69CB2CBDC}"/>
    <dgm:cxn modelId="{BB0ACE7D-8BB3-472C-8ACE-387B28169442}" srcId="{321AFF21-411B-4409-9380-52C13EAD174A}" destId="{C24B9033-1D51-4987-B59A-F3A846073FCC}" srcOrd="2" destOrd="0" parTransId="{229BD534-5279-4F3E-ADF7-C30193E3038B}" sibTransId="{EBC83D43-6218-4C5B-BD41-8CD83337342C}"/>
    <dgm:cxn modelId="{C5E435AC-31B1-4137-8DD5-F466A596EC61}" type="presOf" srcId="{C24B9033-1D51-4987-B59A-F3A846073FCC}" destId="{56E71DB7-5224-43C4-A9AD-E124B3BE01CC}" srcOrd="0" destOrd="0" presId="urn:microsoft.com/office/officeart/2008/layout/LinedList"/>
    <dgm:cxn modelId="{0E9BE0BB-909D-4C25-A5E6-0E5CE128E7F0}" type="presOf" srcId="{8344034D-B09C-412B-843D-63B7D40DA57A}" destId="{F498510F-C56E-4DD3-BB61-DE937D3619EA}" srcOrd="0" destOrd="0" presId="urn:microsoft.com/office/officeart/2008/layout/LinedList"/>
    <dgm:cxn modelId="{C8A35BEB-47C5-4402-A07A-3FDF613B58E1}" type="presOf" srcId="{7089D13A-7C04-4BE3-BD70-A0C380437C6F}" destId="{0FC30363-445D-4D0C-A9D6-AFD93C1622EF}" srcOrd="0" destOrd="0" presId="urn:microsoft.com/office/officeart/2008/layout/LinedList"/>
    <dgm:cxn modelId="{CD71C1FA-1264-47FF-BB08-EC1C44C13DEE}" type="presOf" srcId="{31D4ACFA-1C14-4CC6-844E-6CDD09067BD2}" destId="{9F0104CE-28A8-4E6D-8AF7-FAFC2ABB528C}" srcOrd="0" destOrd="0" presId="urn:microsoft.com/office/officeart/2008/layout/LinedList"/>
    <dgm:cxn modelId="{AD583236-4AC4-445C-BC8E-61A7B61F8A8D}" type="presParOf" srcId="{D94C7858-0F86-4B6B-A785-BC2A6E990BD7}" destId="{3ACB9A2A-2F52-40C4-B3F9-B1FB5E69CC11}" srcOrd="0" destOrd="0" presId="urn:microsoft.com/office/officeart/2008/layout/LinedList"/>
    <dgm:cxn modelId="{F2142DB4-BE10-47CA-9629-2BA5692C4362}" type="presParOf" srcId="{D94C7858-0F86-4B6B-A785-BC2A6E990BD7}" destId="{D81E88B3-3E87-466E-B1CC-4B01075B7E1D}" srcOrd="1" destOrd="0" presId="urn:microsoft.com/office/officeart/2008/layout/LinedList"/>
    <dgm:cxn modelId="{A42C6C6B-7793-4330-9C2C-7089EC0F68F9}" type="presParOf" srcId="{D81E88B3-3E87-466E-B1CC-4B01075B7E1D}" destId="{F498510F-C56E-4DD3-BB61-DE937D3619EA}" srcOrd="0" destOrd="0" presId="urn:microsoft.com/office/officeart/2008/layout/LinedList"/>
    <dgm:cxn modelId="{F8E2960D-D85C-4416-97CB-75AD3DD0A6AE}" type="presParOf" srcId="{D81E88B3-3E87-466E-B1CC-4B01075B7E1D}" destId="{F4703C58-761F-462A-8950-AD85F89CA81D}" srcOrd="1" destOrd="0" presId="urn:microsoft.com/office/officeart/2008/layout/LinedList"/>
    <dgm:cxn modelId="{2CE25C4D-8CC3-4BF7-B2E1-2211C3A4BBE4}" type="presParOf" srcId="{D94C7858-0F86-4B6B-A785-BC2A6E990BD7}" destId="{DB6F6DC7-194E-4262-AC47-1DC834F7FCBA}" srcOrd="2" destOrd="0" presId="urn:microsoft.com/office/officeart/2008/layout/LinedList"/>
    <dgm:cxn modelId="{26875B3C-E0F7-4FE0-BD5F-CDF6BFCEBA58}" type="presParOf" srcId="{D94C7858-0F86-4B6B-A785-BC2A6E990BD7}" destId="{6D820185-7128-441C-BE5A-1FD4BE2DD402}" srcOrd="3" destOrd="0" presId="urn:microsoft.com/office/officeart/2008/layout/LinedList"/>
    <dgm:cxn modelId="{A74C4EBE-AE71-4B9D-8BBE-A6645D84F005}" type="presParOf" srcId="{6D820185-7128-441C-BE5A-1FD4BE2DD402}" destId="{E831F845-1E4C-4CDA-A88F-D45B36152887}" srcOrd="0" destOrd="0" presId="urn:microsoft.com/office/officeart/2008/layout/LinedList"/>
    <dgm:cxn modelId="{2DAE54E9-D47A-487B-9577-8D06D45DE89D}" type="presParOf" srcId="{6D820185-7128-441C-BE5A-1FD4BE2DD402}" destId="{3FCD6CFC-9354-41B9-AC8E-C810B8374B35}" srcOrd="1" destOrd="0" presId="urn:microsoft.com/office/officeart/2008/layout/LinedList"/>
    <dgm:cxn modelId="{378D49E1-CA65-4234-9DB8-08FA14DA7B50}" type="presParOf" srcId="{D94C7858-0F86-4B6B-A785-BC2A6E990BD7}" destId="{586AC6CD-0CCC-48FE-A5F0-ECC0CDBE7DA4}" srcOrd="4" destOrd="0" presId="urn:microsoft.com/office/officeart/2008/layout/LinedList"/>
    <dgm:cxn modelId="{49001CBA-AC04-40DB-BE05-143556768F5A}" type="presParOf" srcId="{D94C7858-0F86-4B6B-A785-BC2A6E990BD7}" destId="{5A838C3D-6285-4AFA-981C-6D5B5A287119}" srcOrd="5" destOrd="0" presId="urn:microsoft.com/office/officeart/2008/layout/LinedList"/>
    <dgm:cxn modelId="{F2BF125D-295F-4288-82B6-26B82ABB9FF7}" type="presParOf" srcId="{5A838C3D-6285-4AFA-981C-6D5B5A287119}" destId="{56E71DB7-5224-43C4-A9AD-E124B3BE01CC}" srcOrd="0" destOrd="0" presId="urn:microsoft.com/office/officeart/2008/layout/LinedList"/>
    <dgm:cxn modelId="{F717538D-2BCF-4778-94C7-42975D0B9510}" type="presParOf" srcId="{5A838C3D-6285-4AFA-981C-6D5B5A287119}" destId="{B9E8DAF7-1052-4018-9B46-5A10FAA0354B}" srcOrd="1" destOrd="0" presId="urn:microsoft.com/office/officeart/2008/layout/LinedList"/>
    <dgm:cxn modelId="{3DF41249-7D93-49D9-AB00-4DEAFBF25650}" type="presParOf" srcId="{D94C7858-0F86-4B6B-A785-BC2A6E990BD7}" destId="{9E29A26D-0620-4737-99FE-3788DA29CAF5}" srcOrd="6" destOrd="0" presId="urn:microsoft.com/office/officeart/2008/layout/LinedList"/>
    <dgm:cxn modelId="{13838DA0-32BB-4B55-A6D2-06A7CDF7BA0C}" type="presParOf" srcId="{D94C7858-0F86-4B6B-A785-BC2A6E990BD7}" destId="{E9A036A6-2087-4F35-BEB2-64D1DB33F957}" srcOrd="7" destOrd="0" presId="urn:microsoft.com/office/officeart/2008/layout/LinedList"/>
    <dgm:cxn modelId="{1A6D7FD3-7839-41A7-860E-CAF82E7F3D69}" type="presParOf" srcId="{E9A036A6-2087-4F35-BEB2-64D1DB33F957}" destId="{0FC30363-445D-4D0C-A9D6-AFD93C1622EF}" srcOrd="0" destOrd="0" presId="urn:microsoft.com/office/officeart/2008/layout/LinedList"/>
    <dgm:cxn modelId="{59CDDF91-F60D-462E-AC95-99A53C8D0E4A}" type="presParOf" srcId="{E9A036A6-2087-4F35-BEB2-64D1DB33F957}" destId="{B5C2E3E6-EDE2-4374-9C50-5F612C1B5CEB}" srcOrd="1" destOrd="0" presId="urn:microsoft.com/office/officeart/2008/layout/LinedList"/>
    <dgm:cxn modelId="{48DA7F50-E7E3-410C-B889-11553601AA4F}" type="presParOf" srcId="{D94C7858-0F86-4B6B-A785-BC2A6E990BD7}" destId="{B17467DA-274F-44C5-B344-B0B638DF0FD0}" srcOrd="8" destOrd="0" presId="urn:microsoft.com/office/officeart/2008/layout/LinedList"/>
    <dgm:cxn modelId="{8D8DB04D-9398-4428-A1A1-36B960773C9F}" type="presParOf" srcId="{D94C7858-0F86-4B6B-A785-BC2A6E990BD7}" destId="{11C9B8B0-063C-4B9F-8066-CC7681129F8F}" srcOrd="9" destOrd="0" presId="urn:microsoft.com/office/officeart/2008/layout/LinedList"/>
    <dgm:cxn modelId="{8A19EF45-96A8-4E98-AD35-7D14794F04B1}" type="presParOf" srcId="{11C9B8B0-063C-4B9F-8066-CC7681129F8F}" destId="{A2761C4E-E009-45FF-805B-3908F297C1BA}" srcOrd="0" destOrd="0" presId="urn:microsoft.com/office/officeart/2008/layout/LinedList"/>
    <dgm:cxn modelId="{B16C33B0-2C2F-42DA-A519-A2656A86ED29}" type="presParOf" srcId="{11C9B8B0-063C-4B9F-8066-CC7681129F8F}" destId="{D68B8D28-897F-4E03-96D6-CB96B4DD1B2E}" srcOrd="1" destOrd="0" presId="urn:microsoft.com/office/officeart/2008/layout/LinedList"/>
    <dgm:cxn modelId="{330D0404-07B1-44E6-ADDC-160D3EB8F7B4}" type="presParOf" srcId="{D94C7858-0F86-4B6B-A785-BC2A6E990BD7}" destId="{1DA6020D-D4FC-4115-A2BF-372324E5CF15}" srcOrd="10" destOrd="0" presId="urn:microsoft.com/office/officeart/2008/layout/LinedList"/>
    <dgm:cxn modelId="{9AA9AF1D-E585-4DF9-B031-DF221C30DDF3}" type="presParOf" srcId="{D94C7858-0F86-4B6B-A785-BC2A6E990BD7}" destId="{DDAD264E-B573-4C93-A9B3-7F5CA941C2D8}" srcOrd="11" destOrd="0" presId="urn:microsoft.com/office/officeart/2008/layout/LinedList"/>
    <dgm:cxn modelId="{20595891-E6CD-49D6-B970-951447770F2D}" type="presParOf" srcId="{DDAD264E-B573-4C93-A9B3-7F5CA941C2D8}" destId="{9F0104CE-28A8-4E6D-8AF7-FAFC2ABB528C}" srcOrd="0" destOrd="0" presId="urn:microsoft.com/office/officeart/2008/layout/LinedList"/>
    <dgm:cxn modelId="{6939D167-6539-4415-A1F5-FCBC96D1EF67}" type="presParOf" srcId="{DDAD264E-B573-4C93-A9B3-7F5CA941C2D8}" destId="{54D1D5A6-A232-4D59-8A5B-B1696F9AA4D4}"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80F53D-97D6-4856-A590-80DD6CD25858}">
      <dsp:nvSpPr>
        <dsp:cNvPr id="0" name=""/>
        <dsp:cNvSpPr/>
      </dsp:nvSpPr>
      <dsp:spPr>
        <a:xfrm>
          <a:off x="8930" y="22083"/>
          <a:ext cx="3534264" cy="1060279"/>
        </a:xfrm>
        <a:prstGeom prst="chevron">
          <a:avLst>
            <a:gd name="adj" fmla="val 30000"/>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30915" tIns="130915" rIns="130915" bIns="130915" numCol="1" spcCol="1270" anchor="ctr" anchorCtr="0">
          <a:noAutofit/>
        </a:bodyPr>
        <a:lstStyle/>
        <a:p>
          <a:pPr marL="0" lvl="0" indent="0" algn="ctr" defTabSz="1244600">
            <a:lnSpc>
              <a:spcPct val="90000"/>
            </a:lnSpc>
            <a:spcBef>
              <a:spcPct val="0"/>
            </a:spcBef>
            <a:spcAft>
              <a:spcPct val="35000"/>
            </a:spcAft>
            <a:buNone/>
          </a:pPr>
          <a:r>
            <a:rPr lang="en-GB" sz="2800" b="0" i="0" kern="1200" dirty="0"/>
            <a:t>Definition</a:t>
          </a:r>
          <a:endParaRPr lang="en-US" sz="2800" kern="1200" dirty="0"/>
        </a:p>
      </dsp:txBody>
      <dsp:txXfrm>
        <a:off x="327014" y="22083"/>
        <a:ext cx="2898096" cy="1060279"/>
      </dsp:txXfrm>
    </dsp:sp>
    <dsp:sp modelId="{6A129AA8-566E-417A-BF28-BDE69C9EC001}">
      <dsp:nvSpPr>
        <dsp:cNvPr id="0" name=""/>
        <dsp:cNvSpPr/>
      </dsp:nvSpPr>
      <dsp:spPr>
        <a:xfrm>
          <a:off x="8930" y="1082362"/>
          <a:ext cx="3216180" cy="307245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150" tIns="254150" rIns="254150" bIns="508299" numCol="1" spcCol="1270" anchor="t" anchorCtr="0">
          <a:noAutofit/>
        </a:bodyPr>
        <a:lstStyle/>
        <a:p>
          <a:pPr marL="0" lvl="0" indent="0" algn="l" defTabSz="889000">
            <a:lnSpc>
              <a:spcPct val="90000"/>
            </a:lnSpc>
            <a:spcBef>
              <a:spcPct val="0"/>
            </a:spcBef>
            <a:spcAft>
              <a:spcPct val="35000"/>
            </a:spcAft>
            <a:buNone/>
          </a:pPr>
          <a:r>
            <a:rPr lang="en-GB" sz="2000" b="0" i="0" kern="1200" dirty="0"/>
            <a:t>The neighborhood-based primary healthcare model is a community-oriented approach that aims to deliver comprehensive and accessible healthcare services directly within local neighborhoods.</a:t>
          </a:r>
          <a:endParaRPr lang="en-GB" sz="2000" kern="1200" dirty="0"/>
        </a:p>
      </dsp:txBody>
      <dsp:txXfrm>
        <a:off x="8930" y="1082362"/>
        <a:ext cx="3216180" cy="3072450"/>
      </dsp:txXfrm>
    </dsp:sp>
    <dsp:sp modelId="{16C554F8-358A-486C-B75F-14DB507268D3}">
      <dsp:nvSpPr>
        <dsp:cNvPr id="0" name=""/>
        <dsp:cNvSpPr/>
      </dsp:nvSpPr>
      <dsp:spPr>
        <a:xfrm>
          <a:off x="3490667" y="22083"/>
          <a:ext cx="3534264" cy="1060279"/>
        </a:xfrm>
        <a:prstGeom prst="chevron">
          <a:avLst>
            <a:gd name="adj" fmla="val 30000"/>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30915" tIns="130915" rIns="130915" bIns="130915" numCol="1" spcCol="1270" anchor="ctr" anchorCtr="0">
          <a:noAutofit/>
        </a:bodyPr>
        <a:lstStyle/>
        <a:p>
          <a:pPr marL="0" lvl="0" indent="0" algn="ctr" defTabSz="1244600">
            <a:lnSpc>
              <a:spcPct val="90000"/>
            </a:lnSpc>
            <a:spcBef>
              <a:spcPct val="0"/>
            </a:spcBef>
            <a:spcAft>
              <a:spcPct val="35000"/>
            </a:spcAft>
            <a:buNone/>
          </a:pPr>
          <a:r>
            <a:rPr lang="en-GB" sz="2800" b="0" i="0" kern="1200"/>
            <a:t>Characteristics:</a:t>
          </a:r>
          <a:endParaRPr lang="en-US" sz="2800" kern="1200"/>
        </a:p>
      </dsp:txBody>
      <dsp:txXfrm>
        <a:off x="3808751" y="22083"/>
        <a:ext cx="2898096" cy="1060279"/>
      </dsp:txXfrm>
    </dsp:sp>
    <dsp:sp modelId="{5F782E43-EABF-4240-97E1-9F2B2C3F6DF9}">
      <dsp:nvSpPr>
        <dsp:cNvPr id="0" name=""/>
        <dsp:cNvSpPr/>
      </dsp:nvSpPr>
      <dsp:spPr>
        <a:xfrm>
          <a:off x="3490667" y="1082362"/>
          <a:ext cx="3216180" cy="3072450"/>
        </a:xfrm>
        <a:prstGeom prst="rect">
          <a:avLst/>
        </a:prstGeom>
        <a:solidFill>
          <a:schemeClr val="accent2">
            <a:tint val="40000"/>
            <a:alpha val="90000"/>
            <a:hueOff val="-424613"/>
            <a:satOff val="-37673"/>
            <a:lumOff val="-385"/>
            <a:alphaOff val="0"/>
          </a:schemeClr>
        </a:solidFill>
        <a:ln w="12700" cap="flat" cmpd="sng" algn="ctr">
          <a:solidFill>
            <a:schemeClr val="accent2">
              <a:tint val="40000"/>
              <a:alpha val="90000"/>
              <a:hueOff val="-424613"/>
              <a:satOff val="-37673"/>
              <a:lumOff val="-38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150" tIns="254150" rIns="254150" bIns="508299" numCol="1" spcCol="1270" anchor="t" anchorCtr="0">
          <a:noAutofit/>
        </a:bodyPr>
        <a:lstStyle/>
        <a:p>
          <a:pPr marL="0" lvl="0" indent="0" algn="l" defTabSz="889000">
            <a:lnSpc>
              <a:spcPct val="90000"/>
            </a:lnSpc>
            <a:spcBef>
              <a:spcPct val="0"/>
            </a:spcBef>
            <a:spcAft>
              <a:spcPct val="35000"/>
            </a:spcAft>
            <a:buNone/>
          </a:pPr>
          <a:r>
            <a:rPr lang="en-GB" sz="2000" b="0" i="0" kern="1200"/>
            <a:t>Proximity</a:t>
          </a:r>
          <a:endParaRPr lang="en-US" sz="2000" kern="1200"/>
        </a:p>
        <a:p>
          <a:pPr marL="0" lvl="0" indent="0" algn="l" defTabSz="889000">
            <a:lnSpc>
              <a:spcPct val="90000"/>
            </a:lnSpc>
            <a:spcBef>
              <a:spcPct val="0"/>
            </a:spcBef>
            <a:spcAft>
              <a:spcPct val="35000"/>
            </a:spcAft>
            <a:buNone/>
          </a:pPr>
          <a:r>
            <a:rPr lang="en-GB" sz="2000" b="0" i="0" kern="1200"/>
            <a:t>Community Involvement</a:t>
          </a:r>
          <a:endParaRPr lang="en-US" sz="2000" kern="1200"/>
        </a:p>
        <a:p>
          <a:pPr marL="0" lvl="0" indent="0" algn="l" defTabSz="889000">
            <a:lnSpc>
              <a:spcPct val="90000"/>
            </a:lnSpc>
            <a:spcBef>
              <a:spcPct val="0"/>
            </a:spcBef>
            <a:spcAft>
              <a:spcPct val="35000"/>
            </a:spcAft>
            <a:buNone/>
          </a:pPr>
          <a:r>
            <a:rPr lang="en-GB" sz="2000" b="0" i="0" kern="1200"/>
            <a:t>Preventive Focus</a:t>
          </a:r>
          <a:endParaRPr lang="en-US" sz="2000" kern="1200"/>
        </a:p>
        <a:p>
          <a:pPr marL="0" lvl="0" indent="0" algn="l" defTabSz="889000">
            <a:lnSpc>
              <a:spcPct val="90000"/>
            </a:lnSpc>
            <a:spcBef>
              <a:spcPct val="0"/>
            </a:spcBef>
            <a:spcAft>
              <a:spcPct val="35000"/>
            </a:spcAft>
            <a:buNone/>
          </a:pPr>
          <a:r>
            <a:rPr lang="en-GB" sz="2000" b="0" i="0" kern="1200"/>
            <a:t>Interdisciplinary Collaboration</a:t>
          </a:r>
          <a:endParaRPr lang="en-US" sz="2000" kern="1200"/>
        </a:p>
      </dsp:txBody>
      <dsp:txXfrm>
        <a:off x="3490667" y="1082362"/>
        <a:ext cx="3216180" cy="3072450"/>
      </dsp:txXfrm>
    </dsp:sp>
    <dsp:sp modelId="{5D815929-9019-4871-BBE8-4174D7E0F0D8}">
      <dsp:nvSpPr>
        <dsp:cNvPr id="0" name=""/>
        <dsp:cNvSpPr/>
      </dsp:nvSpPr>
      <dsp:spPr>
        <a:xfrm>
          <a:off x="6972405" y="22083"/>
          <a:ext cx="3534264" cy="1060279"/>
        </a:xfrm>
        <a:prstGeom prst="chevron">
          <a:avLst>
            <a:gd name="adj" fmla="val 30000"/>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30915" tIns="130915" rIns="130915" bIns="130915" numCol="1" spcCol="1270" anchor="ctr" anchorCtr="0">
          <a:noAutofit/>
        </a:bodyPr>
        <a:lstStyle/>
        <a:p>
          <a:pPr marL="0" lvl="0" indent="0" algn="ctr" defTabSz="1244600">
            <a:lnSpc>
              <a:spcPct val="90000"/>
            </a:lnSpc>
            <a:spcBef>
              <a:spcPct val="0"/>
            </a:spcBef>
            <a:spcAft>
              <a:spcPct val="35000"/>
            </a:spcAft>
            <a:buNone/>
          </a:pPr>
          <a:r>
            <a:rPr lang="en-GB" sz="2800" b="0" i="0" kern="1200"/>
            <a:t>Objectives:</a:t>
          </a:r>
          <a:endParaRPr lang="en-US" sz="2800" kern="1200"/>
        </a:p>
      </dsp:txBody>
      <dsp:txXfrm>
        <a:off x="7290489" y="22083"/>
        <a:ext cx="2898096" cy="1060279"/>
      </dsp:txXfrm>
    </dsp:sp>
    <dsp:sp modelId="{3299E19C-BB27-4828-B70B-EB6BAE18842A}">
      <dsp:nvSpPr>
        <dsp:cNvPr id="0" name=""/>
        <dsp:cNvSpPr/>
      </dsp:nvSpPr>
      <dsp:spPr>
        <a:xfrm>
          <a:off x="6972405" y="1082362"/>
          <a:ext cx="3216180" cy="3072450"/>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150" tIns="254150" rIns="254150" bIns="508299" numCol="1" spcCol="1270" anchor="t" anchorCtr="0">
          <a:noAutofit/>
        </a:bodyPr>
        <a:lstStyle/>
        <a:p>
          <a:pPr marL="0" lvl="0" indent="0" algn="l" defTabSz="889000">
            <a:lnSpc>
              <a:spcPct val="90000"/>
            </a:lnSpc>
            <a:spcBef>
              <a:spcPct val="0"/>
            </a:spcBef>
            <a:spcAft>
              <a:spcPct val="35000"/>
            </a:spcAft>
            <a:buNone/>
          </a:pPr>
          <a:r>
            <a:rPr lang="en-GB" sz="2000" b="0" i="0" kern="1200"/>
            <a:t>Improve Access to Healthcare</a:t>
          </a:r>
          <a:endParaRPr lang="en-US" sz="2000" kern="1200"/>
        </a:p>
        <a:p>
          <a:pPr marL="0" lvl="0" indent="0" algn="l" defTabSz="889000">
            <a:lnSpc>
              <a:spcPct val="90000"/>
            </a:lnSpc>
            <a:spcBef>
              <a:spcPct val="0"/>
            </a:spcBef>
            <a:spcAft>
              <a:spcPct val="35000"/>
            </a:spcAft>
            <a:buNone/>
          </a:pPr>
          <a:r>
            <a:rPr lang="en-GB" sz="2000" b="0" i="0" kern="1200"/>
            <a:t>Enhance Community Health Outcomes</a:t>
          </a:r>
          <a:endParaRPr lang="en-US" sz="2000" kern="1200"/>
        </a:p>
        <a:p>
          <a:pPr marL="0" lvl="0" indent="0" algn="l" defTabSz="889000">
            <a:lnSpc>
              <a:spcPct val="90000"/>
            </a:lnSpc>
            <a:spcBef>
              <a:spcPct val="0"/>
            </a:spcBef>
            <a:spcAft>
              <a:spcPct val="35000"/>
            </a:spcAft>
            <a:buNone/>
          </a:pPr>
          <a:r>
            <a:rPr lang="en-GB" sz="2000" b="0" i="0" kern="1200"/>
            <a:t>Empower Community Participation</a:t>
          </a:r>
          <a:endParaRPr lang="en-US" sz="2000" kern="1200"/>
        </a:p>
        <a:p>
          <a:pPr marL="0" lvl="0" indent="0" algn="l" defTabSz="889000">
            <a:lnSpc>
              <a:spcPct val="90000"/>
            </a:lnSpc>
            <a:spcBef>
              <a:spcPct val="0"/>
            </a:spcBef>
            <a:spcAft>
              <a:spcPct val="35000"/>
            </a:spcAft>
            <a:buNone/>
          </a:pPr>
          <a:r>
            <a:rPr lang="en-GB" sz="2000" b="0" i="0" kern="1200"/>
            <a:t>Reduce Health Disparities</a:t>
          </a:r>
          <a:endParaRPr lang="en-US" sz="2000" kern="1200"/>
        </a:p>
      </dsp:txBody>
      <dsp:txXfrm>
        <a:off x="6972405" y="1082362"/>
        <a:ext cx="3216180" cy="30724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7D16B1-5731-47D0-8263-EB105EB4B316}">
      <dsp:nvSpPr>
        <dsp:cNvPr id="0" name=""/>
        <dsp:cNvSpPr/>
      </dsp:nvSpPr>
      <dsp:spPr>
        <a:xfrm>
          <a:off x="0" y="49193"/>
          <a:ext cx="10515600" cy="129285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GB" sz="3200" kern="1200" dirty="0"/>
            <a:t>The Advantages for community of Implementing a Neighborhood-Based Primary Healthcare Model</a:t>
          </a:r>
          <a:endParaRPr lang="en-US" sz="3200" kern="1200" dirty="0"/>
        </a:p>
      </dsp:txBody>
      <dsp:txXfrm>
        <a:off x="63112" y="112305"/>
        <a:ext cx="10389376" cy="1166626"/>
      </dsp:txXfrm>
    </dsp:sp>
    <dsp:sp modelId="{958F6D5D-2C8C-479A-BD4C-85C1F4BA7AB3}">
      <dsp:nvSpPr>
        <dsp:cNvPr id="0" name=""/>
        <dsp:cNvSpPr/>
      </dsp:nvSpPr>
      <dsp:spPr>
        <a:xfrm>
          <a:off x="0" y="1529244"/>
          <a:ext cx="10515600" cy="129285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GB" sz="3200" b="0" i="0" kern="1200" dirty="0"/>
            <a:t>Analyse the impact of such a model on community health outcomes and patient satisfaction.</a:t>
          </a:r>
          <a:endParaRPr lang="en-US" sz="3200" kern="1200" dirty="0"/>
        </a:p>
      </dsp:txBody>
      <dsp:txXfrm>
        <a:off x="63112" y="1592356"/>
        <a:ext cx="10389376" cy="1166626"/>
      </dsp:txXfrm>
    </dsp:sp>
    <dsp:sp modelId="{6BF21C30-4EC4-4F81-84BF-375E4BDDB7AE}">
      <dsp:nvSpPr>
        <dsp:cNvPr id="0" name=""/>
        <dsp:cNvSpPr/>
      </dsp:nvSpPr>
      <dsp:spPr>
        <a:xfrm>
          <a:off x="0" y="3009294"/>
          <a:ext cx="10515600" cy="129285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GB" sz="3200" b="0" i="0" kern="1200" dirty="0"/>
            <a:t>Proof of potential challenges being overcome by case study</a:t>
          </a:r>
          <a:endParaRPr lang="en-US" sz="3200" kern="1200" dirty="0"/>
        </a:p>
      </dsp:txBody>
      <dsp:txXfrm>
        <a:off x="63112" y="3072406"/>
        <a:ext cx="10389376" cy="11666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1A1498-D0E3-4352-9D49-D1EA0E25E3EF}">
      <dsp:nvSpPr>
        <dsp:cNvPr id="0" name=""/>
        <dsp:cNvSpPr/>
      </dsp:nvSpPr>
      <dsp:spPr>
        <a:xfrm>
          <a:off x="0" y="74279"/>
          <a:ext cx="6253721" cy="74353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GB" sz="3100" kern="1200"/>
            <a:t>Enhancing Access to healthcare</a:t>
          </a:r>
          <a:endParaRPr lang="en-US" sz="3100" kern="1200"/>
        </a:p>
      </dsp:txBody>
      <dsp:txXfrm>
        <a:off x="36296" y="110575"/>
        <a:ext cx="6181129" cy="670943"/>
      </dsp:txXfrm>
    </dsp:sp>
    <dsp:sp modelId="{F056DB1A-13D8-4033-B8D5-69C118B9F223}">
      <dsp:nvSpPr>
        <dsp:cNvPr id="0" name=""/>
        <dsp:cNvSpPr/>
      </dsp:nvSpPr>
      <dsp:spPr>
        <a:xfrm>
          <a:off x="0" y="907094"/>
          <a:ext cx="6253721" cy="743535"/>
        </a:xfrm>
        <a:prstGeom prst="roundRect">
          <a:avLst/>
        </a:prstGeom>
        <a:solidFill>
          <a:schemeClr val="accent5">
            <a:hueOff val="-1351709"/>
            <a:satOff val="-3484"/>
            <a:lumOff val="-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GB" sz="3100" kern="1200"/>
            <a:t>Improved Community Health</a:t>
          </a:r>
          <a:endParaRPr lang="en-US" sz="3100" kern="1200"/>
        </a:p>
      </dsp:txBody>
      <dsp:txXfrm>
        <a:off x="36296" y="943390"/>
        <a:ext cx="6181129" cy="670943"/>
      </dsp:txXfrm>
    </dsp:sp>
    <dsp:sp modelId="{390448A5-20AE-477B-998D-EA8F378AF1B9}">
      <dsp:nvSpPr>
        <dsp:cNvPr id="0" name=""/>
        <dsp:cNvSpPr/>
      </dsp:nvSpPr>
      <dsp:spPr>
        <a:xfrm>
          <a:off x="0" y="1739909"/>
          <a:ext cx="6253721" cy="743535"/>
        </a:xfrm>
        <a:prstGeom prst="roundRect">
          <a:avLst/>
        </a:prstGeom>
        <a:solidFill>
          <a:schemeClr val="accent5">
            <a:hueOff val="-2703417"/>
            <a:satOff val="-6968"/>
            <a:lumOff val="-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GB" sz="3100" kern="1200"/>
            <a:t>Cost-Effectiveness</a:t>
          </a:r>
          <a:endParaRPr lang="en-US" sz="3100" kern="1200"/>
        </a:p>
      </dsp:txBody>
      <dsp:txXfrm>
        <a:off x="36296" y="1776205"/>
        <a:ext cx="6181129" cy="670943"/>
      </dsp:txXfrm>
    </dsp:sp>
    <dsp:sp modelId="{F022BCAC-8F80-459D-B32D-A87F92C12C25}">
      <dsp:nvSpPr>
        <dsp:cNvPr id="0" name=""/>
        <dsp:cNvSpPr/>
      </dsp:nvSpPr>
      <dsp:spPr>
        <a:xfrm>
          <a:off x="0" y="2572724"/>
          <a:ext cx="6253721" cy="743535"/>
        </a:xfrm>
        <a:prstGeom prst="roundRect">
          <a:avLst/>
        </a:prstGeom>
        <a:solidFill>
          <a:schemeClr val="accent5">
            <a:hueOff val="-4055126"/>
            <a:satOff val="-10451"/>
            <a:lumOff val="-7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GB" sz="3100" kern="1200" dirty="0"/>
            <a:t>Empowerment of Local Communities</a:t>
          </a:r>
          <a:endParaRPr lang="en-US" sz="3100" kern="1200" dirty="0"/>
        </a:p>
      </dsp:txBody>
      <dsp:txXfrm>
        <a:off x="36296" y="2609020"/>
        <a:ext cx="6181129" cy="670943"/>
      </dsp:txXfrm>
    </dsp:sp>
    <dsp:sp modelId="{9D731EA6-B3BE-4003-BDF9-8DC3AD7F9AD4}">
      <dsp:nvSpPr>
        <dsp:cNvPr id="0" name=""/>
        <dsp:cNvSpPr/>
      </dsp:nvSpPr>
      <dsp:spPr>
        <a:xfrm>
          <a:off x="0" y="3405540"/>
          <a:ext cx="6253721" cy="743535"/>
        </a:xfrm>
        <a:prstGeom prst="roundRect">
          <a:avLst/>
        </a:prstGeom>
        <a:solidFill>
          <a:schemeClr val="accent5">
            <a:hueOff val="-5406834"/>
            <a:satOff val="-13935"/>
            <a:lumOff val="-9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GB" sz="3100" kern="1200"/>
            <a:t>Integrated Care</a:t>
          </a:r>
          <a:endParaRPr lang="en-US" sz="3100" kern="1200"/>
        </a:p>
      </dsp:txBody>
      <dsp:txXfrm>
        <a:off x="36296" y="3441836"/>
        <a:ext cx="6181129" cy="670943"/>
      </dsp:txXfrm>
    </dsp:sp>
    <dsp:sp modelId="{2AC551A3-CCBB-4E2F-AFB2-BA9C384C4709}">
      <dsp:nvSpPr>
        <dsp:cNvPr id="0" name=""/>
        <dsp:cNvSpPr/>
      </dsp:nvSpPr>
      <dsp:spPr>
        <a:xfrm>
          <a:off x="0" y="4238355"/>
          <a:ext cx="6253721" cy="743535"/>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GB" sz="3100" kern="1200" dirty="0"/>
            <a:t>Data-Driven Healthcare</a:t>
          </a:r>
          <a:endParaRPr lang="en-US" sz="3100" kern="1200" dirty="0"/>
        </a:p>
      </dsp:txBody>
      <dsp:txXfrm>
        <a:off x="36296" y="4274651"/>
        <a:ext cx="6181129" cy="6709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CB9A2A-2F52-40C4-B3F9-B1FB5E69CC11}">
      <dsp:nvSpPr>
        <dsp:cNvPr id="0" name=""/>
        <dsp:cNvSpPr/>
      </dsp:nvSpPr>
      <dsp:spPr>
        <a:xfrm>
          <a:off x="0" y="2703"/>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98510F-C56E-4DD3-BB61-DE937D3619EA}">
      <dsp:nvSpPr>
        <dsp:cNvPr id="0" name=""/>
        <dsp:cNvSpPr/>
      </dsp:nvSpPr>
      <dsp:spPr>
        <a:xfrm>
          <a:off x="0" y="2703"/>
          <a:ext cx="6900512"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GB" sz="2500" b="0" i="0" kern="1200" dirty="0"/>
            <a:t>Fusion of multiple healthcare service</a:t>
          </a:r>
          <a:endParaRPr lang="en-US" sz="2500" kern="1200" dirty="0"/>
        </a:p>
      </dsp:txBody>
      <dsp:txXfrm>
        <a:off x="0" y="2703"/>
        <a:ext cx="6900512" cy="921789"/>
      </dsp:txXfrm>
    </dsp:sp>
    <dsp:sp modelId="{DB6F6DC7-194E-4262-AC47-1DC834F7FCBA}">
      <dsp:nvSpPr>
        <dsp:cNvPr id="0" name=""/>
        <dsp:cNvSpPr/>
      </dsp:nvSpPr>
      <dsp:spPr>
        <a:xfrm>
          <a:off x="0" y="924492"/>
          <a:ext cx="6900512" cy="0"/>
        </a:xfrm>
        <a:prstGeom prst="line">
          <a:avLst/>
        </a:prstGeom>
        <a:solidFill>
          <a:schemeClr val="accent2">
            <a:hueOff val="-291073"/>
            <a:satOff val="-16786"/>
            <a:lumOff val="1726"/>
            <a:alphaOff val="0"/>
          </a:schemeClr>
        </a:solidFill>
        <a:ln w="12700" cap="flat" cmpd="sng" algn="ctr">
          <a:solidFill>
            <a:schemeClr val="accent2">
              <a:hueOff val="-291073"/>
              <a:satOff val="-16786"/>
              <a:lumOff val="172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31F845-1E4C-4CDA-A88F-D45B36152887}">
      <dsp:nvSpPr>
        <dsp:cNvPr id="0" name=""/>
        <dsp:cNvSpPr/>
      </dsp:nvSpPr>
      <dsp:spPr>
        <a:xfrm>
          <a:off x="0" y="924492"/>
          <a:ext cx="6900512"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GB" sz="2500" b="0" i="0" kern="1200" dirty="0"/>
            <a:t>Teamwork amongst healthcare professionals</a:t>
          </a:r>
          <a:endParaRPr lang="en-US" sz="2500" kern="1200" dirty="0"/>
        </a:p>
      </dsp:txBody>
      <dsp:txXfrm>
        <a:off x="0" y="924492"/>
        <a:ext cx="6900512" cy="921789"/>
      </dsp:txXfrm>
    </dsp:sp>
    <dsp:sp modelId="{586AC6CD-0CCC-48FE-A5F0-ECC0CDBE7DA4}">
      <dsp:nvSpPr>
        <dsp:cNvPr id="0" name=""/>
        <dsp:cNvSpPr/>
      </dsp:nvSpPr>
      <dsp:spPr>
        <a:xfrm>
          <a:off x="0" y="1846281"/>
          <a:ext cx="6900512" cy="0"/>
        </a:xfrm>
        <a:prstGeom prst="line">
          <a:avLst/>
        </a:prstGeom>
        <a:solidFill>
          <a:schemeClr val="accent2">
            <a:hueOff val="-582145"/>
            <a:satOff val="-33571"/>
            <a:lumOff val="3451"/>
            <a:alphaOff val="0"/>
          </a:schemeClr>
        </a:solidFill>
        <a:ln w="12700" cap="flat" cmpd="sng" algn="ctr">
          <a:solidFill>
            <a:schemeClr val="accent2">
              <a:hueOff val="-582145"/>
              <a:satOff val="-33571"/>
              <a:lumOff val="345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E71DB7-5224-43C4-A9AD-E124B3BE01CC}">
      <dsp:nvSpPr>
        <dsp:cNvPr id="0" name=""/>
        <dsp:cNvSpPr/>
      </dsp:nvSpPr>
      <dsp:spPr>
        <a:xfrm>
          <a:off x="0" y="1846281"/>
          <a:ext cx="6900512"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GB" sz="2500" b="0" i="0" kern="1200" dirty="0"/>
            <a:t>Community-based treatment</a:t>
          </a:r>
          <a:endParaRPr lang="en-US" sz="2500" kern="1200" dirty="0"/>
        </a:p>
      </dsp:txBody>
      <dsp:txXfrm>
        <a:off x="0" y="1846281"/>
        <a:ext cx="6900512" cy="921789"/>
      </dsp:txXfrm>
    </dsp:sp>
    <dsp:sp modelId="{9E29A26D-0620-4737-99FE-3788DA29CAF5}">
      <dsp:nvSpPr>
        <dsp:cNvPr id="0" name=""/>
        <dsp:cNvSpPr/>
      </dsp:nvSpPr>
      <dsp:spPr>
        <a:xfrm>
          <a:off x="0" y="2768070"/>
          <a:ext cx="6900512" cy="0"/>
        </a:xfrm>
        <a:prstGeom prst="line">
          <a:avLst/>
        </a:prstGeom>
        <a:solidFill>
          <a:schemeClr val="accent2">
            <a:hueOff val="-873218"/>
            <a:satOff val="-50357"/>
            <a:lumOff val="5177"/>
            <a:alphaOff val="0"/>
          </a:schemeClr>
        </a:solidFill>
        <a:ln w="12700" cap="flat" cmpd="sng" algn="ctr">
          <a:solidFill>
            <a:schemeClr val="accent2">
              <a:hueOff val="-873218"/>
              <a:satOff val="-50357"/>
              <a:lumOff val="517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C30363-445D-4D0C-A9D6-AFD93C1622EF}">
      <dsp:nvSpPr>
        <dsp:cNvPr id="0" name=""/>
        <dsp:cNvSpPr/>
      </dsp:nvSpPr>
      <dsp:spPr>
        <a:xfrm>
          <a:off x="0" y="2768070"/>
          <a:ext cx="6900512"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GB" sz="2500" b="0" i="0" kern="1200" dirty="0"/>
            <a:t>Patient-centered methods</a:t>
          </a:r>
          <a:endParaRPr lang="en-US" sz="2500" kern="1200" dirty="0"/>
        </a:p>
      </dsp:txBody>
      <dsp:txXfrm>
        <a:off x="0" y="2768070"/>
        <a:ext cx="6900512" cy="921789"/>
      </dsp:txXfrm>
    </dsp:sp>
    <dsp:sp modelId="{B17467DA-274F-44C5-B344-B0B638DF0FD0}">
      <dsp:nvSpPr>
        <dsp:cNvPr id="0" name=""/>
        <dsp:cNvSpPr/>
      </dsp:nvSpPr>
      <dsp:spPr>
        <a:xfrm>
          <a:off x="0" y="3689859"/>
          <a:ext cx="6900512" cy="0"/>
        </a:xfrm>
        <a:prstGeom prst="line">
          <a:avLst/>
        </a:prstGeom>
        <a:solidFill>
          <a:schemeClr val="accent2">
            <a:hueOff val="-1164290"/>
            <a:satOff val="-67142"/>
            <a:lumOff val="6902"/>
            <a:alphaOff val="0"/>
          </a:schemeClr>
        </a:solidFill>
        <a:ln w="12700" cap="flat" cmpd="sng" algn="ctr">
          <a:solidFill>
            <a:schemeClr val="accent2">
              <a:hueOff val="-1164290"/>
              <a:satOff val="-67142"/>
              <a:lumOff val="69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761C4E-E009-45FF-805B-3908F297C1BA}">
      <dsp:nvSpPr>
        <dsp:cNvPr id="0" name=""/>
        <dsp:cNvSpPr/>
      </dsp:nvSpPr>
      <dsp:spPr>
        <a:xfrm>
          <a:off x="0" y="3689859"/>
          <a:ext cx="6900512"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GB" sz="2500" b="0" i="0" kern="1200" dirty="0"/>
            <a:t>Reduce healthcare inequities</a:t>
          </a:r>
          <a:endParaRPr lang="en-US" sz="2500" kern="1200" dirty="0"/>
        </a:p>
      </dsp:txBody>
      <dsp:txXfrm>
        <a:off x="0" y="3689859"/>
        <a:ext cx="6900512" cy="921789"/>
      </dsp:txXfrm>
    </dsp:sp>
    <dsp:sp modelId="{1DA6020D-D4FC-4115-A2BF-372324E5CF15}">
      <dsp:nvSpPr>
        <dsp:cNvPr id="0" name=""/>
        <dsp:cNvSpPr/>
      </dsp:nvSpPr>
      <dsp:spPr>
        <a:xfrm>
          <a:off x="0" y="4611648"/>
          <a:ext cx="6900512"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0104CE-28A8-4E6D-8AF7-FAFC2ABB528C}">
      <dsp:nvSpPr>
        <dsp:cNvPr id="0" name=""/>
        <dsp:cNvSpPr/>
      </dsp:nvSpPr>
      <dsp:spPr>
        <a:xfrm>
          <a:off x="0" y="4611648"/>
          <a:ext cx="6900512"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GB" sz="2500" b="0" i="0" kern="1200" dirty="0"/>
            <a:t>Policymakers develop equitable and inclusive healthcare system</a:t>
          </a:r>
          <a:endParaRPr lang="en-US" sz="2500" kern="1200" dirty="0"/>
        </a:p>
      </dsp:txBody>
      <dsp:txXfrm>
        <a:off x="0" y="4611648"/>
        <a:ext cx="6900512" cy="921789"/>
      </dsp:txXfrm>
    </dsp:sp>
  </dsp:spTree>
</dsp:drawing>
</file>

<file path=ppt/diagrams/layout1.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960E56-12D0-4E6C-AED4-702635C694A9}" type="datetimeFigureOut">
              <a:rPr lang="en-GB" smtClean="0"/>
              <a:t>08/08/2023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A204B0-8946-4701-83E1-EA27E3B68E51}" type="slidenum">
              <a:rPr lang="en-GB" smtClean="0"/>
              <a:t>‹#›</a:t>
            </a:fld>
            <a:endParaRPr lang="en-GB"/>
          </a:p>
        </p:txBody>
      </p:sp>
    </p:spTree>
    <p:extLst>
      <p:ext uri="{BB962C8B-B14F-4D97-AF65-F5344CB8AC3E}">
        <p14:creationId xmlns:p14="http://schemas.microsoft.com/office/powerpoint/2010/main" val="1989302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None/>
            </a:pPr>
            <a:r>
              <a:rPr lang="en-GB" sz="1200" b="0" i="0" dirty="0">
                <a:solidFill>
                  <a:srgbClr val="374151"/>
                </a:solidFill>
                <a:effectLst/>
                <a:latin typeface="Söhne"/>
              </a:rPr>
              <a:t>Topic Introduction and Importance of Primary Healthcare in Neighborhoods:</a:t>
            </a:r>
          </a:p>
          <a:p>
            <a:pPr algn="l">
              <a:buFont typeface="Arial" panose="020B0604020202020204" pitchFamily="34" charset="0"/>
              <a:buChar char="•"/>
            </a:pPr>
            <a:r>
              <a:rPr lang="en-GB" sz="1200" b="0" i="0" dirty="0">
                <a:solidFill>
                  <a:srgbClr val="374151"/>
                </a:solidFill>
                <a:effectLst/>
                <a:latin typeface="Söhne"/>
              </a:rPr>
              <a:t>Primary healthcare is the first point of contact for individuals seeking medical assistance and preventive care.</a:t>
            </a:r>
          </a:p>
          <a:p>
            <a:pPr algn="l">
              <a:buFont typeface="Arial" panose="020B0604020202020204" pitchFamily="34" charset="0"/>
              <a:buChar char="•"/>
            </a:pPr>
            <a:r>
              <a:rPr lang="en-GB" sz="1200" b="0" i="0" dirty="0">
                <a:solidFill>
                  <a:srgbClr val="374151"/>
                </a:solidFill>
                <a:effectLst/>
                <a:latin typeface="Söhne"/>
              </a:rPr>
              <a:t>It plays a crucial role in promoting community health, preventing illnesses, and addressing minor health concerns before they escalate.</a:t>
            </a:r>
          </a:p>
          <a:p>
            <a:pPr algn="l">
              <a:buFont typeface="Arial" panose="020B0604020202020204" pitchFamily="34" charset="0"/>
              <a:buChar char="•"/>
            </a:pPr>
            <a:r>
              <a:rPr lang="en-GB" sz="1200" b="0" i="0" dirty="0">
                <a:solidFill>
                  <a:srgbClr val="374151"/>
                </a:solidFill>
                <a:effectLst/>
                <a:latin typeface="Söhne"/>
              </a:rPr>
              <a:t>Accessible and well-functioning primary healthcare services are essential in ensuring equitable healthcare distribution within neighborhoods.</a:t>
            </a:r>
          </a:p>
          <a:p>
            <a:pPr algn="l">
              <a:buFont typeface="Arial" panose="020B0604020202020204" pitchFamily="34" charset="0"/>
              <a:buChar char="•"/>
            </a:pPr>
            <a:r>
              <a:rPr lang="en-GB" sz="1200" b="0" i="0" dirty="0">
                <a:solidFill>
                  <a:srgbClr val="374151"/>
                </a:solidFill>
                <a:effectLst/>
                <a:latin typeface="Söhne"/>
              </a:rPr>
              <a:t>Neighborhood-based primary healthcare models aim to bring healthcare services closer to the community, promoting proactive health management and community engagement. </a:t>
            </a:r>
          </a:p>
          <a:p>
            <a:pPr marL="0" indent="0" algn="l">
              <a:buNone/>
            </a:pPr>
            <a:endParaRPr lang="en-GB" sz="1200" b="0" i="0" dirty="0">
              <a:solidFill>
                <a:srgbClr val="374151"/>
              </a:solidFill>
              <a:effectLst/>
              <a:latin typeface="Söhne"/>
            </a:endParaRPr>
          </a:p>
          <a:p>
            <a:endParaRPr lang="en-GB" dirty="0"/>
          </a:p>
        </p:txBody>
      </p:sp>
      <p:sp>
        <p:nvSpPr>
          <p:cNvPr id="4" name="Slide Number Placeholder 3"/>
          <p:cNvSpPr>
            <a:spLocks noGrp="1"/>
          </p:cNvSpPr>
          <p:nvPr>
            <p:ph type="sldNum" sz="quarter" idx="5"/>
          </p:nvPr>
        </p:nvSpPr>
        <p:spPr/>
        <p:txBody>
          <a:bodyPr/>
          <a:lstStyle/>
          <a:p>
            <a:fld id="{E7A204B0-8946-4701-83E1-EA27E3B68E51}" type="slidenum">
              <a:rPr lang="en-GB" smtClean="0"/>
              <a:t>2</a:t>
            </a:fld>
            <a:endParaRPr lang="en-GB"/>
          </a:p>
        </p:txBody>
      </p:sp>
    </p:spTree>
    <p:extLst>
      <p:ext uri="{BB962C8B-B14F-4D97-AF65-F5344CB8AC3E}">
        <p14:creationId xmlns:p14="http://schemas.microsoft.com/office/powerpoint/2010/main" val="3314657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None/>
            </a:pPr>
            <a:r>
              <a:rPr lang="en-GB" b="0" i="0" dirty="0">
                <a:solidFill>
                  <a:srgbClr val="374151"/>
                </a:solidFill>
                <a:effectLst/>
                <a:latin typeface="Söhne"/>
              </a:rPr>
              <a:t>Definition: The neighborhood-based primary healthcare model is a community-oriented approach that aims to deliver comprehensive and accessible healthcare services directly within local neighborhoods.</a:t>
            </a:r>
          </a:p>
          <a:p>
            <a:pPr marL="0" indent="0" algn="l">
              <a:buNone/>
            </a:pPr>
            <a:r>
              <a:rPr lang="en-GB" b="0" i="0" dirty="0">
                <a:solidFill>
                  <a:srgbClr val="374151"/>
                </a:solidFill>
                <a:effectLst/>
                <a:latin typeface="Söhne"/>
              </a:rPr>
              <a:t>Characteristics:</a:t>
            </a:r>
          </a:p>
          <a:p>
            <a:pPr algn="l">
              <a:buFont typeface="Arial" panose="020B0604020202020204" pitchFamily="34" charset="0"/>
              <a:buChar char="•"/>
            </a:pPr>
            <a:r>
              <a:rPr lang="en-GB" b="0" i="0" dirty="0">
                <a:solidFill>
                  <a:srgbClr val="374151"/>
                </a:solidFill>
                <a:effectLst/>
                <a:latin typeface="Söhne"/>
              </a:rPr>
              <a:t>Proximity: Healthcare facilities are strategically located within or near neighborhoods, making healthcare services easily accessible to residents.</a:t>
            </a:r>
          </a:p>
          <a:p>
            <a:pPr algn="l">
              <a:buFont typeface="Arial" panose="020B0604020202020204" pitchFamily="34" charset="0"/>
              <a:buChar char="•"/>
            </a:pPr>
            <a:r>
              <a:rPr lang="en-GB" b="0" i="0" dirty="0">
                <a:solidFill>
                  <a:srgbClr val="374151"/>
                </a:solidFill>
                <a:effectLst/>
                <a:latin typeface="Söhne"/>
              </a:rPr>
              <a:t>Community Involvement: The model actively involves the local community in healthcare planning, decision-making, and service delivery, ensuring services cater to specific community needs.</a:t>
            </a:r>
          </a:p>
          <a:p>
            <a:pPr algn="l">
              <a:buFont typeface="Arial" panose="020B0604020202020204" pitchFamily="34" charset="0"/>
              <a:buChar char="•"/>
            </a:pPr>
            <a:r>
              <a:rPr lang="en-GB" b="0" i="0" dirty="0">
                <a:solidFill>
                  <a:srgbClr val="374151"/>
                </a:solidFill>
                <a:effectLst/>
                <a:latin typeface="Söhne"/>
              </a:rPr>
              <a:t>Preventive Focus: Emphasis is placed on preventive care, health education, and early intervention to promote wellness and reduce the burden of preventable illnesses.</a:t>
            </a:r>
          </a:p>
          <a:p>
            <a:pPr algn="l">
              <a:buFont typeface="Arial" panose="020B0604020202020204" pitchFamily="34" charset="0"/>
              <a:buChar char="•"/>
            </a:pPr>
            <a:r>
              <a:rPr lang="en-GB" b="0" i="0" dirty="0">
                <a:solidFill>
                  <a:srgbClr val="374151"/>
                </a:solidFill>
                <a:effectLst/>
                <a:latin typeface="Söhne"/>
              </a:rPr>
              <a:t>Interdisciplinary Collaboration: The model fosters collaboration among various healthcare professionals, social workers, and community organizations to address both medical and social determinants of health.</a:t>
            </a:r>
          </a:p>
          <a:p>
            <a:pPr marL="0" indent="0" algn="l">
              <a:buNone/>
            </a:pPr>
            <a:r>
              <a:rPr lang="en-GB" b="0" i="0" dirty="0">
                <a:solidFill>
                  <a:srgbClr val="374151"/>
                </a:solidFill>
                <a:effectLst/>
                <a:latin typeface="Söhne"/>
              </a:rPr>
              <a:t>Objectives:</a:t>
            </a:r>
          </a:p>
          <a:p>
            <a:pPr algn="l">
              <a:buFont typeface="Arial" panose="020B0604020202020204" pitchFamily="34" charset="0"/>
              <a:buChar char="•"/>
            </a:pPr>
            <a:r>
              <a:rPr lang="en-GB" b="0" i="0" dirty="0">
                <a:solidFill>
                  <a:srgbClr val="374151"/>
                </a:solidFill>
                <a:effectLst/>
                <a:latin typeface="Söhne"/>
              </a:rPr>
              <a:t>Improve Access to Healthcare: By bringing healthcare services closer to residents, the model aims to reduce barriers to access, such as transportation issues and geographic distance.</a:t>
            </a:r>
          </a:p>
          <a:p>
            <a:pPr algn="l">
              <a:buFont typeface="Arial" panose="020B0604020202020204" pitchFamily="34" charset="0"/>
              <a:buChar char="•"/>
            </a:pPr>
            <a:r>
              <a:rPr lang="en-GB" b="0" i="0" dirty="0">
                <a:solidFill>
                  <a:srgbClr val="374151"/>
                </a:solidFill>
                <a:effectLst/>
                <a:latin typeface="Söhne"/>
              </a:rPr>
              <a:t>Enhance Community Health Outcomes: The focus on preventive care and community engagement helps improve overall health outcomes, leading to healthier and more resilient communities.</a:t>
            </a:r>
          </a:p>
          <a:p>
            <a:pPr algn="l">
              <a:buFont typeface="Arial" panose="020B0604020202020204" pitchFamily="34" charset="0"/>
              <a:buChar char="•"/>
            </a:pPr>
            <a:r>
              <a:rPr lang="en-GB" b="0" i="0" dirty="0">
                <a:solidFill>
                  <a:srgbClr val="374151"/>
                </a:solidFill>
                <a:effectLst/>
                <a:latin typeface="Söhne"/>
              </a:rPr>
              <a:t>Empower Community Participation: The model seeks to empower community members to actively participate in their health and well-being, fostering a sense of ownership and responsibility.</a:t>
            </a:r>
          </a:p>
          <a:p>
            <a:pPr algn="l">
              <a:buFont typeface="Arial" panose="020B0604020202020204" pitchFamily="34" charset="0"/>
              <a:buChar char="•"/>
            </a:pPr>
            <a:r>
              <a:rPr lang="en-GB" b="0" i="0" dirty="0">
                <a:solidFill>
                  <a:srgbClr val="374151"/>
                </a:solidFill>
                <a:effectLst/>
                <a:latin typeface="Söhne"/>
              </a:rPr>
              <a:t>Reduce Health Disparities: Through targeted interventions and community-specific healthcare initiatives, the model aims to reduce health disparities and ensure equitable healthcare access for all residents.</a:t>
            </a:r>
            <a:endParaRPr lang="en-GB" dirty="0"/>
          </a:p>
          <a:p>
            <a:endParaRPr lang="en-GB" dirty="0"/>
          </a:p>
        </p:txBody>
      </p:sp>
      <p:sp>
        <p:nvSpPr>
          <p:cNvPr id="4" name="Slide Number Placeholder 3"/>
          <p:cNvSpPr>
            <a:spLocks noGrp="1"/>
          </p:cNvSpPr>
          <p:nvPr>
            <p:ph type="sldNum" sz="quarter" idx="5"/>
          </p:nvPr>
        </p:nvSpPr>
        <p:spPr/>
        <p:txBody>
          <a:bodyPr/>
          <a:lstStyle/>
          <a:p>
            <a:fld id="{E7A204B0-8946-4701-83E1-EA27E3B68E51}" type="slidenum">
              <a:rPr lang="en-GB" smtClean="0"/>
              <a:t>3</a:t>
            </a:fld>
            <a:endParaRPr lang="en-GB"/>
          </a:p>
        </p:txBody>
      </p:sp>
    </p:spTree>
    <p:extLst>
      <p:ext uri="{BB962C8B-B14F-4D97-AF65-F5344CB8AC3E}">
        <p14:creationId xmlns:p14="http://schemas.microsoft.com/office/powerpoint/2010/main" val="3088413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dirty="0"/>
              <a:t>The Advantages for community of Implementing a Neighborhood-Based Primary Healthcare Model</a:t>
            </a:r>
            <a:endParaRPr lang="en-GB" sz="1200" b="0" i="0" dirty="0">
              <a:solidFill>
                <a:srgbClr val="374151"/>
              </a:solidFill>
              <a:effectLst/>
              <a:latin typeface="Söhne"/>
            </a:endParaRPr>
          </a:p>
          <a:p>
            <a:pPr algn="l">
              <a:buFont typeface="Arial" panose="020B0604020202020204" pitchFamily="34" charset="0"/>
              <a:buChar char="•"/>
            </a:pPr>
            <a:r>
              <a:rPr lang="en-GB" sz="1200" b="0" i="0" dirty="0">
                <a:solidFill>
                  <a:srgbClr val="374151"/>
                </a:solidFill>
                <a:effectLst/>
                <a:latin typeface="Söhne"/>
              </a:rPr>
              <a:t>Analyse the impact of such a model on community health outcomes and patient satisfaction.</a:t>
            </a:r>
          </a:p>
          <a:p>
            <a:pPr algn="l">
              <a:buFont typeface="Arial" panose="020B0604020202020204" pitchFamily="34" charset="0"/>
              <a:buChar char="•"/>
            </a:pPr>
            <a:r>
              <a:rPr lang="en-GB" sz="1200" b="0" i="0" dirty="0">
                <a:solidFill>
                  <a:srgbClr val="374151"/>
                </a:solidFill>
                <a:effectLst/>
                <a:latin typeface="Söhne"/>
              </a:rPr>
              <a:t>Proof of potential challenges being overcome by case study</a:t>
            </a:r>
            <a:endParaRPr lang="en-GB" sz="1200" dirty="0"/>
          </a:p>
          <a:p>
            <a:endParaRPr lang="en-GB" dirty="0"/>
          </a:p>
          <a:p>
            <a:endParaRPr lang="en-GB" dirty="0"/>
          </a:p>
        </p:txBody>
      </p:sp>
      <p:sp>
        <p:nvSpPr>
          <p:cNvPr id="4" name="Slide Number Placeholder 3"/>
          <p:cNvSpPr>
            <a:spLocks noGrp="1"/>
          </p:cNvSpPr>
          <p:nvPr>
            <p:ph type="sldNum" sz="quarter" idx="5"/>
          </p:nvPr>
        </p:nvSpPr>
        <p:spPr/>
        <p:txBody>
          <a:bodyPr/>
          <a:lstStyle/>
          <a:p>
            <a:fld id="{E7A204B0-8946-4701-83E1-EA27E3B68E51}" type="slidenum">
              <a:rPr lang="en-GB" smtClean="0"/>
              <a:t>4</a:t>
            </a:fld>
            <a:endParaRPr lang="en-GB"/>
          </a:p>
        </p:txBody>
      </p:sp>
    </p:spTree>
    <p:extLst>
      <p:ext uri="{BB962C8B-B14F-4D97-AF65-F5344CB8AC3E}">
        <p14:creationId xmlns:p14="http://schemas.microsoft.com/office/powerpoint/2010/main" val="1588304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GB" sz="1200" b="0" i="0" dirty="0">
                <a:effectLst/>
              </a:rPr>
              <a:t>JBI scoping review guidance followed, and the databases searched (Medline, Web of Science, PubMed, and Google Scholar-Advanced).</a:t>
            </a:r>
          </a:p>
          <a:p>
            <a:pPr>
              <a:buFont typeface="Arial" panose="020B0604020202020204" pitchFamily="34" charset="0"/>
              <a:buChar char="•"/>
            </a:pPr>
            <a:r>
              <a:rPr lang="en-GB" sz="1200" dirty="0"/>
              <a:t>The context of included studies was limited to directly a part or influencing the model. This resulted in a total of fifteen eligible articles, which were included in this review</a:t>
            </a:r>
            <a:endParaRPr lang="en-GB" sz="1200" b="0" i="0" dirty="0">
              <a:effectLst/>
            </a:endParaRPr>
          </a:p>
          <a:p>
            <a:endParaRPr lang="en-GB" dirty="0"/>
          </a:p>
        </p:txBody>
      </p:sp>
      <p:sp>
        <p:nvSpPr>
          <p:cNvPr id="4" name="Slide Number Placeholder 3"/>
          <p:cNvSpPr>
            <a:spLocks noGrp="1"/>
          </p:cNvSpPr>
          <p:nvPr>
            <p:ph type="sldNum" sz="quarter" idx="5"/>
          </p:nvPr>
        </p:nvSpPr>
        <p:spPr/>
        <p:txBody>
          <a:bodyPr/>
          <a:lstStyle/>
          <a:p>
            <a:fld id="{E7A204B0-8946-4701-83E1-EA27E3B68E51}" type="slidenum">
              <a:rPr lang="en-GB" smtClean="0"/>
              <a:t>5</a:t>
            </a:fld>
            <a:endParaRPr lang="en-GB"/>
          </a:p>
        </p:txBody>
      </p:sp>
    </p:spTree>
    <p:extLst>
      <p:ext uri="{BB962C8B-B14F-4D97-AF65-F5344CB8AC3E}">
        <p14:creationId xmlns:p14="http://schemas.microsoft.com/office/powerpoint/2010/main" val="5719224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GB" sz="1200" b="0" i="0" dirty="0">
                <a:effectLst/>
                <a:latin typeface="__Poppins_3bfef9"/>
              </a:rPr>
              <a:t>PRISMA Flow showing selection of 15 articles</a:t>
            </a:r>
          </a:p>
          <a:p>
            <a:pPr marL="342900" indent="-342900">
              <a:buFont typeface="+mj-lt"/>
              <a:buAutoNum type="arabicPeriod"/>
            </a:pPr>
            <a:r>
              <a:rPr lang="en-GB" sz="1200" dirty="0"/>
              <a:t>Identification: 54 articles with the initial search (e.g., PubMed, Google Scholar, etc.)</a:t>
            </a:r>
          </a:p>
          <a:p>
            <a:pPr marL="342900" indent="-342900">
              <a:buFont typeface="+mj-lt"/>
              <a:buAutoNum type="arabicPeriod"/>
            </a:pPr>
            <a:r>
              <a:rPr lang="en-GB" sz="1200" dirty="0"/>
              <a:t>Screening: 7 articles were excluded as specific to medical specializations</a:t>
            </a:r>
          </a:p>
          <a:p>
            <a:pPr marL="342900" indent="-342900">
              <a:buFont typeface="+mj-lt"/>
              <a:buAutoNum type="arabicPeriod"/>
            </a:pPr>
            <a:r>
              <a:rPr lang="en-GB" sz="1200" dirty="0"/>
              <a:t>Eligibility: Included 36 articles after removing the ones which are not related to examples or the model</a:t>
            </a:r>
          </a:p>
          <a:p>
            <a:pPr marL="342900" indent="-342900">
              <a:buFont typeface="+mj-lt"/>
              <a:buAutoNum type="arabicPeriod"/>
            </a:pPr>
            <a:r>
              <a:rPr lang="en-GB" sz="1200" dirty="0"/>
              <a:t>Included studies: 15 articles were included from a variety of journals and search articles</a:t>
            </a:r>
            <a:endParaRPr lang="en-GB" sz="1200" b="0" i="0" dirty="0">
              <a:effectLst/>
              <a:latin typeface="__Poppins_3bfef9"/>
            </a:endParaRPr>
          </a:p>
          <a:p>
            <a:endParaRPr lang="en-GB" dirty="0"/>
          </a:p>
        </p:txBody>
      </p:sp>
      <p:sp>
        <p:nvSpPr>
          <p:cNvPr id="4" name="Slide Number Placeholder 3"/>
          <p:cNvSpPr>
            <a:spLocks noGrp="1"/>
          </p:cNvSpPr>
          <p:nvPr>
            <p:ph type="sldNum" sz="quarter" idx="5"/>
          </p:nvPr>
        </p:nvSpPr>
        <p:spPr/>
        <p:txBody>
          <a:bodyPr/>
          <a:lstStyle/>
          <a:p>
            <a:fld id="{E7A204B0-8946-4701-83E1-EA27E3B68E51}" type="slidenum">
              <a:rPr lang="en-GB" smtClean="0"/>
              <a:t>7</a:t>
            </a:fld>
            <a:endParaRPr lang="en-GB"/>
          </a:p>
        </p:txBody>
      </p:sp>
    </p:spTree>
    <p:extLst>
      <p:ext uri="{BB962C8B-B14F-4D97-AF65-F5344CB8AC3E}">
        <p14:creationId xmlns:p14="http://schemas.microsoft.com/office/powerpoint/2010/main" val="28205735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GB" sz="1200" b="0" i="0" dirty="0">
                <a:effectLst/>
                <a:latin typeface="Söhne"/>
              </a:rPr>
              <a:t>Mohalla Clinic in Delhi, India: The Mohalla Clinic initiative, started in 2015, provides accessible and affordable healthcare services to the urban underprivileged.</a:t>
            </a:r>
          </a:p>
          <a:p>
            <a:pPr>
              <a:buFont typeface="Arial" panose="020B0604020202020204" pitchFamily="34" charset="0"/>
              <a:buChar char="•"/>
            </a:pPr>
            <a:r>
              <a:rPr lang="en-GB" sz="1200" b="0" i="0" dirty="0">
                <a:effectLst/>
                <a:latin typeface="Söhne"/>
              </a:rPr>
              <a:t>Improved Healthcare Access: Neighborhood-based clinics increase healthcare access for marginalized communities by positioning community health </a:t>
            </a:r>
            <a:r>
              <a:rPr lang="en-GB" sz="1200" b="0" i="0" dirty="0" err="1">
                <a:effectLst/>
                <a:latin typeface="Söhne"/>
              </a:rPr>
              <a:t>centers</a:t>
            </a:r>
            <a:r>
              <a:rPr lang="en-GB" sz="1200" b="0" i="0" dirty="0">
                <a:effectLst/>
                <a:latin typeface="Söhne"/>
              </a:rPr>
              <a:t> (CHCs) geographically to serve nearby populations.</a:t>
            </a:r>
          </a:p>
          <a:p>
            <a:pPr>
              <a:buFont typeface="Arial" panose="020B0604020202020204" pitchFamily="34" charset="0"/>
              <a:buChar char="•"/>
            </a:pPr>
            <a:r>
              <a:rPr lang="en-GB" sz="1200" b="0" i="0" dirty="0">
                <a:effectLst/>
                <a:latin typeface="Söhne"/>
              </a:rPr>
              <a:t>Reduced Barriers to Care: Neighborhood-based clinics decrease access obstacles to care, such as language and transportation difficulties, enhancing overall healthcare accessibility.</a:t>
            </a:r>
          </a:p>
          <a:p>
            <a:pPr>
              <a:buFont typeface="Arial" panose="020B0604020202020204" pitchFamily="34" charset="0"/>
              <a:buChar char="•"/>
            </a:pPr>
            <a:r>
              <a:rPr lang="en-GB" sz="1200" b="0" i="0" dirty="0">
                <a:effectLst/>
                <a:latin typeface="Söhne"/>
              </a:rPr>
              <a:t>Strong Doctor-Patient Bond: Proximity to healthcare services in the neighborhood promotes a solid doctor-patient bond, leading to better communication and understanding of patients' healthcare needs.</a:t>
            </a:r>
          </a:p>
          <a:p>
            <a:pPr>
              <a:buFont typeface="Arial" panose="020B0604020202020204" pitchFamily="34" charset="0"/>
              <a:buChar char="•"/>
            </a:pPr>
            <a:r>
              <a:rPr lang="en-GB" sz="1200" b="0" i="0" dirty="0">
                <a:effectLst/>
                <a:latin typeface="Söhne"/>
              </a:rPr>
              <a:t>Culturally Relevant Care: Neighborhood-based clinics, like the Mohalla Clinic, meet the unique medical requirements and cultural preferences of the communities they serve, ensuring culturally relevant care.</a:t>
            </a:r>
          </a:p>
          <a:p>
            <a:pPr>
              <a:buFont typeface="Arial" panose="020B0604020202020204" pitchFamily="34" charset="0"/>
              <a:buChar char="•"/>
            </a:pPr>
            <a:r>
              <a:rPr lang="en-GB" sz="1200" b="0" i="0" dirty="0">
                <a:effectLst/>
                <a:latin typeface="Söhne"/>
              </a:rPr>
              <a:t>Affordable Healthcare: Community-based clinics, including the Mohalla Clinic, provide more economical care alternatives, making healthcare services more affordable and accessible to underprivileged populations.</a:t>
            </a:r>
          </a:p>
          <a:p>
            <a:endParaRPr lang="en-GB" sz="1200" dirty="0"/>
          </a:p>
          <a:p>
            <a:endParaRPr lang="en-GB" dirty="0"/>
          </a:p>
        </p:txBody>
      </p:sp>
      <p:sp>
        <p:nvSpPr>
          <p:cNvPr id="4" name="Slide Number Placeholder 3"/>
          <p:cNvSpPr>
            <a:spLocks noGrp="1"/>
          </p:cNvSpPr>
          <p:nvPr>
            <p:ph type="sldNum" sz="quarter" idx="5"/>
          </p:nvPr>
        </p:nvSpPr>
        <p:spPr/>
        <p:txBody>
          <a:bodyPr/>
          <a:lstStyle/>
          <a:p>
            <a:fld id="{E7A204B0-8946-4701-83E1-EA27E3B68E51}" type="slidenum">
              <a:rPr lang="en-GB" smtClean="0"/>
              <a:t>14</a:t>
            </a:fld>
            <a:endParaRPr lang="en-GB"/>
          </a:p>
        </p:txBody>
      </p:sp>
    </p:spTree>
    <p:extLst>
      <p:ext uri="{BB962C8B-B14F-4D97-AF65-F5344CB8AC3E}">
        <p14:creationId xmlns:p14="http://schemas.microsoft.com/office/powerpoint/2010/main" val="40967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Enhancing Access to healthcare: The Mohalla Clinic initiative provides accessible and affordable healthcare services to the urban underprivileged, improving healthcare access and reducing travel time and costs for patients.</a:t>
            </a:r>
          </a:p>
          <a:p>
            <a:r>
              <a:rPr lang="en-GB" dirty="0"/>
              <a:t>Early Diagnosis and Intervention: Neighborhood-based clinics, like the Mohalla Clinic, focus on preventive care and early detection of health issues, enabling timely intervention and reducing the burden of advanced illnesses.</a:t>
            </a:r>
          </a:p>
          <a:p>
            <a:r>
              <a:rPr lang="en-GB" dirty="0"/>
              <a:t>Improved Community Health: The emphasis on preventive measures, health education, and community engagement fosters a healthier population, reducing the prevalence of diseases and improving overall well-being.</a:t>
            </a:r>
          </a:p>
          <a:p>
            <a:r>
              <a:rPr lang="en-GB" dirty="0"/>
              <a:t>Cost-Effectiveness: Neighborhood-based clinics, like the Mohalla Clinic, promote primary healthcare services, reducing the strain on tertiary care facilities and minimizing healthcare costs for patients and the government.</a:t>
            </a:r>
          </a:p>
          <a:p>
            <a:r>
              <a:rPr lang="en-GB" dirty="0"/>
              <a:t>Empowerment of Local Communities: The involvement of community members in the functioning and decision-making of these clinics empowers residents and creates a sense of ownership in their healthcare.</a:t>
            </a:r>
          </a:p>
          <a:p>
            <a:r>
              <a:rPr lang="en-GB" dirty="0"/>
              <a:t>Integrated Care: The Mohalla Clinic model encourages a multidisciplinary approach, bringing together doctors, nurses, pharmacists, and other healthcare professionals to provide comprehensive and coordinated care.</a:t>
            </a:r>
          </a:p>
          <a:p>
            <a:r>
              <a:rPr lang="en-GB" dirty="0"/>
              <a:t>Data-Driven Healthcare: Using technology and data collection, clinics like the Mohalla Clinic can </a:t>
            </a:r>
            <a:r>
              <a:rPr lang="en-GB" dirty="0" err="1"/>
              <a:t>analyze</a:t>
            </a:r>
            <a:r>
              <a:rPr lang="en-GB" dirty="0"/>
              <a:t> health trends, identify areas of concern, and implement targeted interventions for better health outcomes.</a:t>
            </a:r>
          </a:p>
          <a:p>
            <a:endParaRPr lang="en-GB" dirty="0"/>
          </a:p>
        </p:txBody>
      </p:sp>
      <p:sp>
        <p:nvSpPr>
          <p:cNvPr id="4" name="Slide Number Placeholder 3"/>
          <p:cNvSpPr>
            <a:spLocks noGrp="1"/>
          </p:cNvSpPr>
          <p:nvPr>
            <p:ph type="sldNum" sz="quarter" idx="5"/>
          </p:nvPr>
        </p:nvSpPr>
        <p:spPr/>
        <p:txBody>
          <a:bodyPr/>
          <a:lstStyle/>
          <a:p>
            <a:fld id="{E7A204B0-8946-4701-83E1-EA27E3B68E51}" type="slidenum">
              <a:rPr lang="en-GB" smtClean="0"/>
              <a:t>15</a:t>
            </a:fld>
            <a:endParaRPr lang="en-GB"/>
          </a:p>
        </p:txBody>
      </p:sp>
    </p:spTree>
    <p:extLst>
      <p:ext uri="{BB962C8B-B14F-4D97-AF65-F5344CB8AC3E}">
        <p14:creationId xmlns:p14="http://schemas.microsoft.com/office/powerpoint/2010/main" val="3287613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dirty="0"/>
              <a:t>Proximity: Neighborhood-based clinics offer healthcare services closer to locals, reducing travel distances and transportation challenges.</a:t>
            </a:r>
          </a:p>
          <a:p>
            <a:pPr algn="l">
              <a:buFont typeface="Arial" panose="020B0604020202020204" pitchFamily="34" charset="0"/>
              <a:buChar char="•"/>
            </a:pPr>
            <a:r>
              <a:rPr lang="en-GB" dirty="0"/>
              <a:t>Reduced Waiting Times: These clinics see fewer patients compared to larger hospitals, resulting in shorter wait times for consultations and treatments.</a:t>
            </a:r>
          </a:p>
          <a:p>
            <a:pPr algn="l">
              <a:buFont typeface="Arial" panose="020B0604020202020204" pitchFamily="34" charset="0"/>
              <a:buChar char="•"/>
            </a:pPr>
            <a:r>
              <a:rPr lang="en-GB" dirty="0"/>
              <a:t>Affordable Care: Community-based clinics provide more economical care alternatives compared to larger medical facilities, making healthcare services more accessible to a wider range of people, including those with low incomes.</a:t>
            </a:r>
          </a:p>
          <a:p>
            <a:pPr algn="l">
              <a:buFont typeface="Arial" panose="020B0604020202020204" pitchFamily="34" charset="0"/>
              <a:buChar char="•"/>
            </a:pPr>
            <a:r>
              <a:rPr lang="en-GB" dirty="0"/>
              <a:t>Culturally Relevant Care: Neighborhood-based clinics meet the unique medical requirements and cultural preferences of the communities they serve, facilitating effective communication between patients and doctors.</a:t>
            </a:r>
          </a:p>
          <a:p>
            <a:pPr algn="l">
              <a:buFont typeface="Arial" panose="020B0604020202020204" pitchFamily="34" charset="0"/>
              <a:buChar char="•"/>
            </a:pPr>
            <a:r>
              <a:rPr lang="en-GB" dirty="0"/>
              <a:t>Preventive Care and Education: Community-based clinics actively participate in health promotion and preventive care initiatives, leading to better lifestyles and a decline in the prevalence of chronic diseases.</a:t>
            </a:r>
          </a:p>
          <a:p>
            <a:endParaRPr lang="en-GB" dirty="0"/>
          </a:p>
        </p:txBody>
      </p:sp>
      <p:sp>
        <p:nvSpPr>
          <p:cNvPr id="4" name="Slide Number Placeholder 3"/>
          <p:cNvSpPr>
            <a:spLocks noGrp="1"/>
          </p:cNvSpPr>
          <p:nvPr>
            <p:ph type="sldNum" sz="quarter" idx="5"/>
          </p:nvPr>
        </p:nvSpPr>
        <p:spPr/>
        <p:txBody>
          <a:bodyPr/>
          <a:lstStyle/>
          <a:p>
            <a:fld id="{E7A204B0-8946-4701-83E1-EA27E3B68E51}" type="slidenum">
              <a:rPr lang="en-GB" smtClean="0"/>
              <a:t>16</a:t>
            </a:fld>
            <a:endParaRPr lang="en-GB"/>
          </a:p>
        </p:txBody>
      </p:sp>
    </p:spTree>
    <p:extLst>
      <p:ext uri="{BB962C8B-B14F-4D97-AF65-F5344CB8AC3E}">
        <p14:creationId xmlns:p14="http://schemas.microsoft.com/office/powerpoint/2010/main" val="3840917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0" i="0" dirty="0">
                <a:solidFill>
                  <a:srgbClr val="374151"/>
                </a:solidFill>
                <a:effectLst/>
                <a:latin typeface="Söhne"/>
              </a:rPr>
              <a:t>Neighborhood-based primary healthcare model promotes the fusion of multiple healthcare services, such as preventive, curative, and promotional care, in a single environment centered on the community.</a:t>
            </a:r>
          </a:p>
          <a:p>
            <a:pPr algn="l">
              <a:buFont typeface="Arial" panose="020B0604020202020204" pitchFamily="34" charset="0"/>
              <a:buChar char="•"/>
            </a:pPr>
            <a:r>
              <a:rPr lang="en-GB" b="0" i="0" dirty="0">
                <a:solidFill>
                  <a:srgbClr val="374151"/>
                </a:solidFill>
                <a:effectLst/>
                <a:latin typeface="Söhne"/>
              </a:rPr>
              <a:t>Successful care delivery requires teamwork amongst healthcare professionals, and a neighborhood-based primary healthcare paradigm encourages interdisciplinary collaboration and communication among healthcare providers.</a:t>
            </a:r>
          </a:p>
          <a:p>
            <a:pPr algn="l">
              <a:buFont typeface="Arial" panose="020B0604020202020204" pitchFamily="34" charset="0"/>
              <a:buChar char="•"/>
            </a:pPr>
            <a:r>
              <a:rPr lang="en-GB" b="0" i="0" dirty="0">
                <a:solidFill>
                  <a:srgbClr val="374151"/>
                </a:solidFill>
                <a:effectLst/>
                <a:latin typeface="Söhne"/>
              </a:rPr>
              <a:t>Community-based treatment fosters a better bond between medical professionals and the local populace, leading to improved trust, participation, and adherence to treatment regimens.</a:t>
            </a:r>
          </a:p>
          <a:p>
            <a:pPr algn="l">
              <a:buFont typeface="Arial" panose="020B0604020202020204" pitchFamily="34" charset="0"/>
              <a:buChar char="•"/>
            </a:pPr>
            <a:r>
              <a:rPr lang="en-GB" b="0" i="0" dirty="0">
                <a:solidFill>
                  <a:srgbClr val="374151"/>
                </a:solidFill>
                <a:effectLst/>
                <a:latin typeface="Söhne"/>
              </a:rPr>
              <a:t>Implementing a community-based primary healthcare paradigm can significantly improve Integrated Care and Collaboration by encouraging service integration, interdisciplinary teamwork, and patient-centered methods.</a:t>
            </a:r>
          </a:p>
          <a:p>
            <a:pPr algn="l">
              <a:buFont typeface="Arial" panose="020B0604020202020204" pitchFamily="34" charset="0"/>
              <a:buChar char="•"/>
            </a:pPr>
            <a:r>
              <a:rPr lang="en-GB" b="0" i="0" dirty="0">
                <a:solidFill>
                  <a:srgbClr val="374151"/>
                </a:solidFill>
                <a:effectLst/>
                <a:latin typeface="Söhne"/>
              </a:rPr>
              <a:t>The neighborhood-based primary healthcare model has the potential to reduce healthcare inequities and enhance population health because of its emphasis on community involvement, integrated care, and teamwork.</a:t>
            </a:r>
          </a:p>
          <a:p>
            <a:pPr algn="l">
              <a:buFont typeface="Arial" panose="020B0604020202020204" pitchFamily="34" charset="0"/>
              <a:buChar char="•"/>
            </a:pPr>
            <a:r>
              <a:rPr lang="en-GB" b="0" i="0" dirty="0">
                <a:solidFill>
                  <a:srgbClr val="374151"/>
                </a:solidFill>
                <a:effectLst/>
                <a:latin typeface="Söhne"/>
              </a:rPr>
              <a:t>Policymakers can work to develop a more equitable and inclusive healthcare system by enhancing its implementation and promoting additional research.</a:t>
            </a:r>
          </a:p>
          <a:p>
            <a:endParaRPr lang="en-GB" dirty="0"/>
          </a:p>
        </p:txBody>
      </p:sp>
      <p:sp>
        <p:nvSpPr>
          <p:cNvPr id="4" name="Slide Number Placeholder 3"/>
          <p:cNvSpPr>
            <a:spLocks noGrp="1"/>
          </p:cNvSpPr>
          <p:nvPr>
            <p:ph type="sldNum" sz="quarter" idx="5"/>
          </p:nvPr>
        </p:nvSpPr>
        <p:spPr/>
        <p:txBody>
          <a:bodyPr/>
          <a:lstStyle/>
          <a:p>
            <a:fld id="{E7A204B0-8946-4701-83E1-EA27E3B68E51}" type="slidenum">
              <a:rPr lang="en-GB" smtClean="0"/>
              <a:t>17</a:t>
            </a:fld>
            <a:endParaRPr lang="en-GB"/>
          </a:p>
        </p:txBody>
      </p:sp>
    </p:spTree>
    <p:extLst>
      <p:ext uri="{BB962C8B-B14F-4D97-AF65-F5344CB8AC3E}">
        <p14:creationId xmlns:p14="http://schemas.microsoft.com/office/powerpoint/2010/main" val="35752486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0" i="0" dirty="0">
                <a:solidFill>
                  <a:srgbClr val="374151"/>
                </a:solidFill>
                <a:effectLst/>
                <a:latin typeface="Söhne"/>
              </a:rPr>
              <a:t>Community-based clinics offer numerous benefits that significantly improve patient happiness, healthcare access, cost-effectiveness, and overall health outcomes.</a:t>
            </a:r>
          </a:p>
          <a:p>
            <a:pPr algn="l">
              <a:buFont typeface="Arial" panose="020B0604020202020204" pitchFamily="34" charset="0"/>
              <a:buChar char="•"/>
            </a:pPr>
            <a:r>
              <a:rPr lang="en-GB" b="0" i="0" dirty="0">
                <a:solidFill>
                  <a:srgbClr val="374151"/>
                </a:solidFill>
                <a:effectLst/>
                <a:latin typeface="Söhne"/>
              </a:rPr>
              <a:t>Neighborhood-based clinics contribute to a more sustainable healthcare system due to their cost-effectiveness and early identification and management of health issues.</a:t>
            </a:r>
          </a:p>
          <a:p>
            <a:pPr algn="l">
              <a:buFont typeface="Arial" panose="020B0604020202020204" pitchFamily="34" charset="0"/>
              <a:buChar char="•"/>
            </a:pPr>
            <a:r>
              <a:rPr lang="en-GB" b="0" i="0" dirty="0">
                <a:solidFill>
                  <a:srgbClr val="374151"/>
                </a:solidFill>
                <a:effectLst/>
                <a:latin typeface="Söhne"/>
              </a:rPr>
              <a:t>The patient-centered approach and individualized care offered by these clinics further enhance patient satisfaction, leading to improved healthcare utilization and better results.</a:t>
            </a:r>
          </a:p>
          <a:p>
            <a:pPr algn="l">
              <a:buFont typeface="Arial" panose="020B0604020202020204" pitchFamily="34" charset="0"/>
              <a:buChar char="•"/>
            </a:pPr>
            <a:r>
              <a:rPr lang="en-GB" b="0" i="0" dirty="0">
                <a:solidFill>
                  <a:srgbClr val="374151"/>
                </a:solidFill>
                <a:effectLst/>
                <a:latin typeface="Söhne"/>
              </a:rPr>
              <a:t>Supporting and implementing community-based clinics can result in enhanced population health, reduced healthcare costs, and overall well-being for communities.</a:t>
            </a:r>
          </a:p>
          <a:p>
            <a:pPr algn="l">
              <a:buFont typeface="Arial" panose="020B0604020202020204" pitchFamily="34" charset="0"/>
              <a:buChar char="•"/>
            </a:pPr>
            <a:r>
              <a:rPr lang="en-GB" b="0" i="0" dirty="0">
                <a:solidFill>
                  <a:srgbClr val="374151"/>
                </a:solidFill>
                <a:effectLst/>
                <a:latin typeface="Söhne"/>
              </a:rPr>
              <a:t>The integration of community-based clinics into existing healthcare systems can lead to a more equitable and effective approach, addressing disparities and promoting better health outcomes for all.</a:t>
            </a:r>
          </a:p>
          <a:p>
            <a:pPr algn="l">
              <a:buFont typeface="Arial" panose="020B0604020202020204" pitchFamily="34" charset="0"/>
              <a:buChar char="•"/>
            </a:pPr>
            <a:r>
              <a:rPr lang="en-GB" b="0" i="0" dirty="0">
                <a:solidFill>
                  <a:srgbClr val="374151"/>
                </a:solidFill>
                <a:effectLst/>
                <a:latin typeface="Söhne"/>
              </a:rPr>
              <a:t>The neighborhood-based primary healthcare model has emerged as a viable strategy that places an emphasis on proactive and accessible healthcare services adapted to fit the requirements of local communities.</a:t>
            </a:r>
          </a:p>
          <a:p>
            <a:endParaRPr lang="en-GB" dirty="0"/>
          </a:p>
        </p:txBody>
      </p:sp>
      <p:sp>
        <p:nvSpPr>
          <p:cNvPr id="4" name="Slide Number Placeholder 3"/>
          <p:cNvSpPr>
            <a:spLocks noGrp="1"/>
          </p:cNvSpPr>
          <p:nvPr>
            <p:ph type="sldNum" sz="quarter" idx="5"/>
          </p:nvPr>
        </p:nvSpPr>
        <p:spPr/>
        <p:txBody>
          <a:bodyPr/>
          <a:lstStyle/>
          <a:p>
            <a:fld id="{E7A204B0-8946-4701-83E1-EA27E3B68E51}" type="slidenum">
              <a:rPr lang="en-GB" smtClean="0"/>
              <a:t>18</a:t>
            </a:fld>
            <a:endParaRPr lang="en-GB"/>
          </a:p>
        </p:txBody>
      </p:sp>
    </p:spTree>
    <p:extLst>
      <p:ext uri="{BB962C8B-B14F-4D97-AF65-F5344CB8AC3E}">
        <p14:creationId xmlns:p14="http://schemas.microsoft.com/office/powerpoint/2010/main" val="2225984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AB28F-D99E-EBB6-8B3D-DCBCC9BE8C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DAD44DE-2183-6DC5-9C2A-AA9AE696F8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F0BD37F-1637-8DF2-AC6D-343753D34B7B}"/>
              </a:ext>
            </a:extLst>
          </p:cNvPr>
          <p:cNvSpPr>
            <a:spLocks noGrp="1"/>
          </p:cNvSpPr>
          <p:nvPr>
            <p:ph type="dt" sz="half" idx="10"/>
          </p:nvPr>
        </p:nvSpPr>
        <p:spPr/>
        <p:txBody>
          <a:bodyPr/>
          <a:lstStyle/>
          <a:p>
            <a:fld id="{91874A0A-E83A-439C-A199-60CC8D7B0C7A}" type="datetimeFigureOut">
              <a:rPr lang="en-GB" smtClean="0"/>
              <a:t>08/08/2023</a:t>
            </a:fld>
            <a:endParaRPr lang="en-GB"/>
          </a:p>
        </p:txBody>
      </p:sp>
      <p:sp>
        <p:nvSpPr>
          <p:cNvPr id="5" name="Footer Placeholder 4">
            <a:extLst>
              <a:ext uri="{FF2B5EF4-FFF2-40B4-BE49-F238E27FC236}">
                <a16:creationId xmlns:a16="http://schemas.microsoft.com/office/drawing/2014/main" id="{456BADBF-ABCC-3D8E-F270-C4D9D7633D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891FDC4-9B89-2759-47AD-D98B9F584740}"/>
              </a:ext>
            </a:extLst>
          </p:cNvPr>
          <p:cNvSpPr>
            <a:spLocks noGrp="1"/>
          </p:cNvSpPr>
          <p:nvPr>
            <p:ph type="sldNum" sz="quarter" idx="12"/>
          </p:nvPr>
        </p:nvSpPr>
        <p:spPr/>
        <p:txBody>
          <a:bodyPr/>
          <a:lstStyle/>
          <a:p>
            <a:fld id="{C9699846-C1C8-4909-BE7E-ABE4AE6BF10D}" type="slidenum">
              <a:rPr lang="en-GB" smtClean="0"/>
              <a:t>‹#›</a:t>
            </a:fld>
            <a:endParaRPr lang="en-GB"/>
          </a:p>
        </p:txBody>
      </p:sp>
    </p:spTree>
    <p:extLst>
      <p:ext uri="{BB962C8B-B14F-4D97-AF65-F5344CB8AC3E}">
        <p14:creationId xmlns:p14="http://schemas.microsoft.com/office/powerpoint/2010/main" val="561234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F2D2A-1ED3-C1F3-BF33-BCE1C67AFEE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FF5DB55-9770-F3C2-A19E-A0B9B8B6C2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D532C2E-086D-F1C4-475E-21813DFA64D0}"/>
              </a:ext>
            </a:extLst>
          </p:cNvPr>
          <p:cNvSpPr>
            <a:spLocks noGrp="1"/>
          </p:cNvSpPr>
          <p:nvPr>
            <p:ph type="dt" sz="half" idx="10"/>
          </p:nvPr>
        </p:nvSpPr>
        <p:spPr/>
        <p:txBody>
          <a:bodyPr/>
          <a:lstStyle/>
          <a:p>
            <a:fld id="{91874A0A-E83A-439C-A199-60CC8D7B0C7A}" type="datetimeFigureOut">
              <a:rPr lang="en-GB" smtClean="0"/>
              <a:t>08/08/2023</a:t>
            </a:fld>
            <a:endParaRPr lang="en-GB"/>
          </a:p>
        </p:txBody>
      </p:sp>
      <p:sp>
        <p:nvSpPr>
          <p:cNvPr id="5" name="Footer Placeholder 4">
            <a:extLst>
              <a:ext uri="{FF2B5EF4-FFF2-40B4-BE49-F238E27FC236}">
                <a16:creationId xmlns:a16="http://schemas.microsoft.com/office/drawing/2014/main" id="{1437DB7F-1FA6-0CB9-336C-4FA60CEEB60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9FB5245-B2B9-4FA7-2E8B-7545F8B18E8C}"/>
              </a:ext>
            </a:extLst>
          </p:cNvPr>
          <p:cNvSpPr>
            <a:spLocks noGrp="1"/>
          </p:cNvSpPr>
          <p:nvPr>
            <p:ph type="sldNum" sz="quarter" idx="12"/>
          </p:nvPr>
        </p:nvSpPr>
        <p:spPr/>
        <p:txBody>
          <a:bodyPr/>
          <a:lstStyle/>
          <a:p>
            <a:fld id="{C9699846-C1C8-4909-BE7E-ABE4AE6BF10D}" type="slidenum">
              <a:rPr lang="en-GB" smtClean="0"/>
              <a:t>‹#›</a:t>
            </a:fld>
            <a:endParaRPr lang="en-GB"/>
          </a:p>
        </p:txBody>
      </p:sp>
    </p:spTree>
    <p:extLst>
      <p:ext uri="{BB962C8B-B14F-4D97-AF65-F5344CB8AC3E}">
        <p14:creationId xmlns:p14="http://schemas.microsoft.com/office/powerpoint/2010/main" val="313020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AAD7B-D1AC-45EC-B60D-3B867709FA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5ED99DC-D193-4ED2-5354-8D4F2C88DA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61FD3B-F458-4B48-EAD2-544B9C0F3C65}"/>
              </a:ext>
            </a:extLst>
          </p:cNvPr>
          <p:cNvSpPr>
            <a:spLocks noGrp="1"/>
          </p:cNvSpPr>
          <p:nvPr>
            <p:ph type="dt" sz="half" idx="10"/>
          </p:nvPr>
        </p:nvSpPr>
        <p:spPr/>
        <p:txBody>
          <a:bodyPr/>
          <a:lstStyle/>
          <a:p>
            <a:fld id="{91874A0A-E83A-439C-A199-60CC8D7B0C7A}" type="datetimeFigureOut">
              <a:rPr lang="en-GB" smtClean="0"/>
              <a:t>08/08/2023</a:t>
            </a:fld>
            <a:endParaRPr lang="en-GB"/>
          </a:p>
        </p:txBody>
      </p:sp>
      <p:sp>
        <p:nvSpPr>
          <p:cNvPr id="5" name="Footer Placeholder 4">
            <a:extLst>
              <a:ext uri="{FF2B5EF4-FFF2-40B4-BE49-F238E27FC236}">
                <a16:creationId xmlns:a16="http://schemas.microsoft.com/office/drawing/2014/main" id="{57C56CF2-EF66-107F-9140-A206BA7F6A0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1750645-E26C-C1C3-5463-E8A1AB9FCB2E}"/>
              </a:ext>
            </a:extLst>
          </p:cNvPr>
          <p:cNvSpPr>
            <a:spLocks noGrp="1"/>
          </p:cNvSpPr>
          <p:nvPr>
            <p:ph type="sldNum" sz="quarter" idx="12"/>
          </p:nvPr>
        </p:nvSpPr>
        <p:spPr/>
        <p:txBody>
          <a:bodyPr/>
          <a:lstStyle/>
          <a:p>
            <a:fld id="{C9699846-C1C8-4909-BE7E-ABE4AE6BF10D}" type="slidenum">
              <a:rPr lang="en-GB" smtClean="0"/>
              <a:t>‹#›</a:t>
            </a:fld>
            <a:endParaRPr lang="en-GB"/>
          </a:p>
        </p:txBody>
      </p:sp>
    </p:spTree>
    <p:extLst>
      <p:ext uri="{BB962C8B-B14F-4D97-AF65-F5344CB8AC3E}">
        <p14:creationId xmlns:p14="http://schemas.microsoft.com/office/powerpoint/2010/main" val="2869572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BA2AF-340E-A13C-B9E1-F2AB3057318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952EC78-FE74-80D0-8689-D00F3BBC14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D763900-E2D6-8D7E-061E-A20C97ECBF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459FFBA-5F4F-9150-8C95-248B434F0CFE}"/>
              </a:ext>
            </a:extLst>
          </p:cNvPr>
          <p:cNvSpPr>
            <a:spLocks noGrp="1"/>
          </p:cNvSpPr>
          <p:nvPr>
            <p:ph type="dt" sz="half" idx="10"/>
          </p:nvPr>
        </p:nvSpPr>
        <p:spPr/>
        <p:txBody>
          <a:bodyPr/>
          <a:lstStyle/>
          <a:p>
            <a:fld id="{91874A0A-E83A-439C-A199-60CC8D7B0C7A}" type="datetimeFigureOut">
              <a:rPr lang="en-GB" smtClean="0"/>
              <a:t>08/08/2023</a:t>
            </a:fld>
            <a:endParaRPr lang="en-GB"/>
          </a:p>
        </p:txBody>
      </p:sp>
      <p:sp>
        <p:nvSpPr>
          <p:cNvPr id="6" name="Footer Placeholder 5">
            <a:extLst>
              <a:ext uri="{FF2B5EF4-FFF2-40B4-BE49-F238E27FC236}">
                <a16:creationId xmlns:a16="http://schemas.microsoft.com/office/drawing/2014/main" id="{7D4495E7-CF14-962D-0702-0543FB60498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F63E160-2679-F922-D549-FBA5155F58CE}"/>
              </a:ext>
            </a:extLst>
          </p:cNvPr>
          <p:cNvSpPr>
            <a:spLocks noGrp="1"/>
          </p:cNvSpPr>
          <p:nvPr>
            <p:ph type="sldNum" sz="quarter" idx="12"/>
          </p:nvPr>
        </p:nvSpPr>
        <p:spPr/>
        <p:txBody>
          <a:bodyPr/>
          <a:lstStyle/>
          <a:p>
            <a:fld id="{C9699846-C1C8-4909-BE7E-ABE4AE6BF10D}" type="slidenum">
              <a:rPr lang="en-GB" smtClean="0"/>
              <a:t>‹#›</a:t>
            </a:fld>
            <a:endParaRPr lang="en-GB"/>
          </a:p>
        </p:txBody>
      </p:sp>
    </p:spTree>
    <p:extLst>
      <p:ext uri="{BB962C8B-B14F-4D97-AF65-F5344CB8AC3E}">
        <p14:creationId xmlns:p14="http://schemas.microsoft.com/office/powerpoint/2010/main" val="1067955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4A610-7AEE-3346-2A58-72DC5503031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8D77116-8344-EDEC-E074-D27417CFB1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C4E169-32B2-3D0D-6CBA-8BEABBC5BD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5E4F253-A459-6C8A-7A26-B32FE432BA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6D1A3D-782B-1B13-D404-51347E4DF6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D6D3998-EE0D-1CA7-4B39-384BB81057AF}"/>
              </a:ext>
            </a:extLst>
          </p:cNvPr>
          <p:cNvSpPr>
            <a:spLocks noGrp="1"/>
          </p:cNvSpPr>
          <p:nvPr>
            <p:ph type="dt" sz="half" idx="10"/>
          </p:nvPr>
        </p:nvSpPr>
        <p:spPr/>
        <p:txBody>
          <a:bodyPr/>
          <a:lstStyle/>
          <a:p>
            <a:fld id="{91874A0A-E83A-439C-A199-60CC8D7B0C7A}" type="datetimeFigureOut">
              <a:rPr lang="en-GB" smtClean="0"/>
              <a:t>08/08/2023</a:t>
            </a:fld>
            <a:endParaRPr lang="en-GB"/>
          </a:p>
        </p:txBody>
      </p:sp>
      <p:sp>
        <p:nvSpPr>
          <p:cNvPr id="8" name="Footer Placeholder 7">
            <a:extLst>
              <a:ext uri="{FF2B5EF4-FFF2-40B4-BE49-F238E27FC236}">
                <a16:creationId xmlns:a16="http://schemas.microsoft.com/office/drawing/2014/main" id="{5E17A67F-5982-9ED3-429E-7C5D83AA1C9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8066C00-1753-0872-3AE5-C782AF3922D4}"/>
              </a:ext>
            </a:extLst>
          </p:cNvPr>
          <p:cNvSpPr>
            <a:spLocks noGrp="1"/>
          </p:cNvSpPr>
          <p:nvPr>
            <p:ph type="sldNum" sz="quarter" idx="12"/>
          </p:nvPr>
        </p:nvSpPr>
        <p:spPr/>
        <p:txBody>
          <a:bodyPr/>
          <a:lstStyle/>
          <a:p>
            <a:fld id="{C9699846-C1C8-4909-BE7E-ABE4AE6BF10D}" type="slidenum">
              <a:rPr lang="en-GB" smtClean="0"/>
              <a:t>‹#›</a:t>
            </a:fld>
            <a:endParaRPr lang="en-GB"/>
          </a:p>
        </p:txBody>
      </p:sp>
    </p:spTree>
    <p:extLst>
      <p:ext uri="{BB962C8B-B14F-4D97-AF65-F5344CB8AC3E}">
        <p14:creationId xmlns:p14="http://schemas.microsoft.com/office/powerpoint/2010/main" val="431871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0DC74-B361-A28B-3362-B94071A01EF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78560E2-9AFF-CD19-11E9-206D8CDBBD2B}"/>
              </a:ext>
            </a:extLst>
          </p:cNvPr>
          <p:cNvSpPr>
            <a:spLocks noGrp="1"/>
          </p:cNvSpPr>
          <p:nvPr>
            <p:ph type="dt" sz="half" idx="10"/>
          </p:nvPr>
        </p:nvSpPr>
        <p:spPr/>
        <p:txBody>
          <a:bodyPr/>
          <a:lstStyle/>
          <a:p>
            <a:fld id="{91874A0A-E83A-439C-A199-60CC8D7B0C7A}" type="datetimeFigureOut">
              <a:rPr lang="en-GB" smtClean="0"/>
              <a:t>08/08/2023</a:t>
            </a:fld>
            <a:endParaRPr lang="en-GB"/>
          </a:p>
        </p:txBody>
      </p:sp>
      <p:sp>
        <p:nvSpPr>
          <p:cNvPr id="4" name="Footer Placeholder 3">
            <a:extLst>
              <a:ext uri="{FF2B5EF4-FFF2-40B4-BE49-F238E27FC236}">
                <a16:creationId xmlns:a16="http://schemas.microsoft.com/office/drawing/2014/main" id="{13234F2F-445D-EE13-6298-3D49382A7A3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E97FFA2-6D15-BDC9-954B-E9DC368FED9B}"/>
              </a:ext>
            </a:extLst>
          </p:cNvPr>
          <p:cNvSpPr>
            <a:spLocks noGrp="1"/>
          </p:cNvSpPr>
          <p:nvPr>
            <p:ph type="sldNum" sz="quarter" idx="12"/>
          </p:nvPr>
        </p:nvSpPr>
        <p:spPr/>
        <p:txBody>
          <a:bodyPr/>
          <a:lstStyle/>
          <a:p>
            <a:fld id="{C9699846-C1C8-4909-BE7E-ABE4AE6BF10D}" type="slidenum">
              <a:rPr lang="en-GB" smtClean="0"/>
              <a:t>‹#›</a:t>
            </a:fld>
            <a:endParaRPr lang="en-GB"/>
          </a:p>
        </p:txBody>
      </p:sp>
    </p:spTree>
    <p:extLst>
      <p:ext uri="{BB962C8B-B14F-4D97-AF65-F5344CB8AC3E}">
        <p14:creationId xmlns:p14="http://schemas.microsoft.com/office/powerpoint/2010/main" val="1344059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BE5DC8-C239-52E1-6118-2D0E67330D26}"/>
              </a:ext>
            </a:extLst>
          </p:cNvPr>
          <p:cNvSpPr>
            <a:spLocks noGrp="1"/>
          </p:cNvSpPr>
          <p:nvPr>
            <p:ph type="dt" sz="half" idx="10"/>
          </p:nvPr>
        </p:nvSpPr>
        <p:spPr/>
        <p:txBody>
          <a:bodyPr/>
          <a:lstStyle/>
          <a:p>
            <a:fld id="{91874A0A-E83A-439C-A199-60CC8D7B0C7A}" type="datetimeFigureOut">
              <a:rPr lang="en-GB" smtClean="0"/>
              <a:t>08/08/2023</a:t>
            </a:fld>
            <a:endParaRPr lang="en-GB"/>
          </a:p>
        </p:txBody>
      </p:sp>
      <p:sp>
        <p:nvSpPr>
          <p:cNvPr id="3" name="Footer Placeholder 2">
            <a:extLst>
              <a:ext uri="{FF2B5EF4-FFF2-40B4-BE49-F238E27FC236}">
                <a16:creationId xmlns:a16="http://schemas.microsoft.com/office/drawing/2014/main" id="{CA6B8C9B-5D04-5FAB-BC87-BC571C053F6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A88EBB8-8AFA-A609-AD76-5ABCCA502712}"/>
              </a:ext>
            </a:extLst>
          </p:cNvPr>
          <p:cNvSpPr>
            <a:spLocks noGrp="1"/>
          </p:cNvSpPr>
          <p:nvPr>
            <p:ph type="sldNum" sz="quarter" idx="12"/>
          </p:nvPr>
        </p:nvSpPr>
        <p:spPr/>
        <p:txBody>
          <a:bodyPr/>
          <a:lstStyle/>
          <a:p>
            <a:fld id="{C9699846-C1C8-4909-BE7E-ABE4AE6BF10D}" type="slidenum">
              <a:rPr lang="en-GB" smtClean="0"/>
              <a:t>‹#›</a:t>
            </a:fld>
            <a:endParaRPr lang="en-GB"/>
          </a:p>
        </p:txBody>
      </p:sp>
    </p:spTree>
    <p:extLst>
      <p:ext uri="{BB962C8B-B14F-4D97-AF65-F5344CB8AC3E}">
        <p14:creationId xmlns:p14="http://schemas.microsoft.com/office/powerpoint/2010/main" val="1448622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F0059-0855-FBBC-C649-9802A7D078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25F138F-5A1A-92B9-B843-7FF4ACF3C1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FD5BE5F-8B03-1354-5186-4E3FE37BA1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398D32-36AE-5497-5F64-BE61824D06ED}"/>
              </a:ext>
            </a:extLst>
          </p:cNvPr>
          <p:cNvSpPr>
            <a:spLocks noGrp="1"/>
          </p:cNvSpPr>
          <p:nvPr>
            <p:ph type="dt" sz="half" idx="10"/>
          </p:nvPr>
        </p:nvSpPr>
        <p:spPr/>
        <p:txBody>
          <a:bodyPr/>
          <a:lstStyle/>
          <a:p>
            <a:fld id="{91874A0A-E83A-439C-A199-60CC8D7B0C7A}" type="datetimeFigureOut">
              <a:rPr lang="en-GB" smtClean="0"/>
              <a:t>08/08/2023</a:t>
            </a:fld>
            <a:endParaRPr lang="en-GB"/>
          </a:p>
        </p:txBody>
      </p:sp>
      <p:sp>
        <p:nvSpPr>
          <p:cNvPr id="6" name="Footer Placeholder 5">
            <a:extLst>
              <a:ext uri="{FF2B5EF4-FFF2-40B4-BE49-F238E27FC236}">
                <a16:creationId xmlns:a16="http://schemas.microsoft.com/office/drawing/2014/main" id="{FC656B52-79DE-F003-717F-6B081179C30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53A66E9-141D-66CC-69DE-2C92D733543D}"/>
              </a:ext>
            </a:extLst>
          </p:cNvPr>
          <p:cNvSpPr>
            <a:spLocks noGrp="1"/>
          </p:cNvSpPr>
          <p:nvPr>
            <p:ph type="sldNum" sz="quarter" idx="12"/>
          </p:nvPr>
        </p:nvSpPr>
        <p:spPr/>
        <p:txBody>
          <a:bodyPr/>
          <a:lstStyle/>
          <a:p>
            <a:fld id="{C9699846-C1C8-4909-BE7E-ABE4AE6BF10D}" type="slidenum">
              <a:rPr lang="en-GB" smtClean="0"/>
              <a:t>‹#›</a:t>
            </a:fld>
            <a:endParaRPr lang="en-GB"/>
          </a:p>
        </p:txBody>
      </p:sp>
    </p:spTree>
    <p:extLst>
      <p:ext uri="{BB962C8B-B14F-4D97-AF65-F5344CB8AC3E}">
        <p14:creationId xmlns:p14="http://schemas.microsoft.com/office/powerpoint/2010/main" val="3484747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4EB-2AC0-D53E-598C-FFC952991D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EE95840-A0AC-8713-877C-6B60F05DB1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2038A16-3855-F6C9-E3D7-97A156B332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DDF4DA-1F69-955D-7584-8E2448BBB827}"/>
              </a:ext>
            </a:extLst>
          </p:cNvPr>
          <p:cNvSpPr>
            <a:spLocks noGrp="1"/>
          </p:cNvSpPr>
          <p:nvPr>
            <p:ph type="dt" sz="half" idx="10"/>
          </p:nvPr>
        </p:nvSpPr>
        <p:spPr/>
        <p:txBody>
          <a:bodyPr/>
          <a:lstStyle/>
          <a:p>
            <a:fld id="{91874A0A-E83A-439C-A199-60CC8D7B0C7A}" type="datetimeFigureOut">
              <a:rPr lang="en-GB" smtClean="0"/>
              <a:t>08/08/2023</a:t>
            </a:fld>
            <a:endParaRPr lang="en-GB"/>
          </a:p>
        </p:txBody>
      </p:sp>
      <p:sp>
        <p:nvSpPr>
          <p:cNvPr id="6" name="Footer Placeholder 5">
            <a:extLst>
              <a:ext uri="{FF2B5EF4-FFF2-40B4-BE49-F238E27FC236}">
                <a16:creationId xmlns:a16="http://schemas.microsoft.com/office/drawing/2014/main" id="{9C445934-7BE9-28BD-A266-8B114A6C1AE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7A3916F-9C59-3184-B596-75CD9AB92B38}"/>
              </a:ext>
            </a:extLst>
          </p:cNvPr>
          <p:cNvSpPr>
            <a:spLocks noGrp="1"/>
          </p:cNvSpPr>
          <p:nvPr>
            <p:ph type="sldNum" sz="quarter" idx="12"/>
          </p:nvPr>
        </p:nvSpPr>
        <p:spPr/>
        <p:txBody>
          <a:bodyPr/>
          <a:lstStyle/>
          <a:p>
            <a:fld id="{C9699846-C1C8-4909-BE7E-ABE4AE6BF10D}" type="slidenum">
              <a:rPr lang="en-GB" smtClean="0"/>
              <a:t>‹#›</a:t>
            </a:fld>
            <a:endParaRPr lang="en-GB"/>
          </a:p>
        </p:txBody>
      </p:sp>
    </p:spTree>
    <p:extLst>
      <p:ext uri="{BB962C8B-B14F-4D97-AF65-F5344CB8AC3E}">
        <p14:creationId xmlns:p14="http://schemas.microsoft.com/office/powerpoint/2010/main" val="1658157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7D6D5-A216-65D1-3E3E-BC1A0D301D3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6963C28-DD01-C699-D148-06C9E7776F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F16A6C6-81D6-6687-59B3-01772CA39BF1}"/>
              </a:ext>
            </a:extLst>
          </p:cNvPr>
          <p:cNvSpPr>
            <a:spLocks noGrp="1"/>
          </p:cNvSpPr>
          <p:nvPr>
            <p:ph type="dt" sz="half" idx="10"/>
          </p:nvPr>
        </p:nvSpPr>
        <p:spPr/>
        <p:txBody>
          <a:bodyPr/>
          <a:lstStyle/>
          <a:p>
            <a:fld id="{91874A0A-E83A-439C-A199-60CC8D7B0C7A}" type="datetimeFigureOut">
              <a:rPr lang="en-GB" smtClean="0"/>
              <a:t>08/08/2023</a:t>
            </a:fld>
            <a:endParaRPr lang="en-GB"/>
          </a:p>
        </p:txBody>
      </p:sp>
      <p:sp>
        <p:nvSpPr>
          <p:cNvPr id="5" name="Footer Placeholder 4">
            <a:extLst>
              <a:ext uri="{FF2B5EF4-FFF2-40B4-BE49-F238E27FC236}">
                <a16:creationId xmlns:a16="http://schemas.microsoft.com/office/drawing/2014/main" id="{83A3424D-2E0A-48F3-D28D-8579D42215A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D50EE89-2A73-A66E-6258-5E27B6F037E5}"/>
              </a:ext>
            </a:extLst>
          </p:cNvPr>
          <p:cNvSpPr>
            <a:spLocks noGrp="1"/>
          </p:cNvSpPr>
          <p:nvPr>
            <p:ph type="sldNum" sz="quarter" idx="12"/>
          </p:nvPr>
        </p:nvSpPr>
        <p:spPr/>
        <p:txBody>
          <a:bodyPr/>
          <a:lstStyle/>
          <a:p>
            <a:fld id="{C9699846-C1C8-4909-BE7E-ABE4AE6BF10D}" type="slidenum">
              <a:rPr lang="en-GB" smtClean="0"/>
              <a:t>‹#›</a:t>
            </a:fld>
            <a:endParaRPr lang="en-GB"/>
          </a:p>
        </p:txBody>
      </p:sp>
    </p:spTree>
    <p:extLst>
      <p:ext uri="{BB962C8B-B14F-4D97-AF65-F5344CB8AC3E}">
        <p14:creationId xmlns:p14="http://schemas.microsoft.com/office/powerpoint/2010/main" val="1157893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4B3F27-020C-C4D6-DCBE-FA331E2FDA1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13BE100-B5E7-1C55-662C-71C1A58190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58A902E-433D-7E43-104E-75E1731AE38B}"/>
              </a:ext>
            </a:extLst>
          </p:cNvPr>
          <p:cNvSpPr>
            <a:spLocks noGrp="1"/>
          </p:cNvSpPr>
          <p:nvPr>
            <p:ph type="dt" sz="half" idx="10"/>
          </p:nvPr>
        </p:nvSpPr>
        <p:spPr/>
        <p:txBody>
          <a:bodyPr/>
          <a:lstStyle/>
          <a:p>
            <a:fld id="{91874A0A-E83A-439C-A199-60CC8D7B0C7A}" type="datetimeFigureOut">
              <a:rPr lang="en-GB" smtClean="0"/>
              <a:t>08/08/2023</a:t>
            </a:fld>
            <a:endParaRPr lang="en-GB"/>
          </a:p>
        </p:txBody>
      </p:sp>
      <p:sp>
        <p:nvSpPr>
          <p:cNvPr id="5" name="Footer Placeholder 4">
            <a:extLst>
              <a:ext uri="{FF2B5EF4-FFF2-40B4-BE49-F238E27FC236}">
                <a16:creationId xmlns:a16="http://schemas.microsoft.com/office/drawing/2014/main" id="{15900A36-2499-B9F5-AD1F-43E319404B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50CA987-F502-2AC4-7268-E639C063F4DF}"/>
              </a:ext>
            </a:extLst>
          </p:cNvPr>
          <p:cNvSpPr>
            <a:spLocks noGrp="1"/>
          </p:cNvSpPr>
          <p:nvPr>
            <p:ph type="sldNum" sz="quarter" idx="12"/>
          </p:nvPr>
        </p:nvSpPr>
        <p:spPr/>
        <p:txBody>
          <a:bodyPr/>
          <a:lstStyle/>
          <a:p>
            <a:fld id="{C9699846-C1C8-4909-BE7E-ABE4AE6BF10D}" type="slidenum">
              <a:rPr lang="en-GB" smtClean="0"/>
              <a:t>‹#›</a:t>
            </a:fld>
            <a:endParaRPr lang="en-GB"/>
          </a:p>
        </p:txBody>
      </p:sp>
    </p:spTree>
    <p:extLst>
      <p:ext uri="{BB962C8B-B14F-4D97-AF65-F5344CB8AC3E}">
        <p14:creationId xmlns:p14="http://schemas.microsoft.com/office/powerpoint/2010/main" val="2338016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E2B408-0AE0-E992-961F-988788E13F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732A11B-1E83-E360-5DF3-773454C008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B0A8CD7-83C2-4987-23D0-82E2BBF436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874A0A-E83A-439C-A199-60CC8D7B0C7A}" type="datetimeFigureOut">
              <a:rPr lang="en-GB" smtClean="0"/>
              <a:t>08/08/2023</a:t>
            </a:fld>
            <a:endParaRPr lang="en-GB"/>
          </a:p>
        </p:txBody>
      </p:sp>
      <p:sp>
        <p:nvSpPr>
          <p:cNvPr id="5" name="Footer Placeholder 4">
            <a:extLst>
              <a:ext uri="{FF2B5EF4-FFF2-40B4-BE49-F238E27FC236}">
                <a16:creationId xmlns:a16="http://schemas.microsoft.com/office/drawing/2014/main" id="{F2D49F1D-A383-65A0-3700-04638757DE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E13B95E0-8375-F742-A413-B4B99AA3E1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699846-C1C8-4909-BE7E-ABE4AE6BF10D}" type="slidenum">
              <a:rPr lang="en-GB" smtClean="0"/>
              <a:t>‹#›</a:t>
            </a:fld>
            <a:endParaRPr lang="en-GB"/>
          </a:p>
        </p:txBody>
      </p:sp>
    </p:spTree>
    <p:extLst>
      <p:ext uri="{BB962C8B-B14F-4D97-AF65-F5344CB8AC3E}">
        <p14:creationId xmlns:p14="http://schemas.microsoft.com/office/powerpoint/2010/main" val="8461710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4.jpe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s://doi.org/10.1007/s10488-010-0327-7" TargetMode="External"/><Relationship Id="rId13" Type="http://schemas.openxmlformats.org/officeDocument/2006/relationships/hyperlink" Target="https://bhs.org.in/theamrit-solution/" TargetMode="External"/><Relationship Id="rId3" Type="http://schemas.openxmlformats.org/officeDocument/2006/relationships/hyperlink" Target="https://doi.org/10.1016/j.ajem.2020.03.035" TargetMode="External"/><Relationship Id="rId7" Type="http://schemas.openxmlformats.org/officeDocument/2006/relationships/hyperlink" Target="https://doi.org/10.1093/fampra/cmac154" TargetMode="External"/><Relationship Id="rId12" Type="http://schemas.openxmlformats.org/officeDocument/2006/relationships/hyperlink" Target="https://www.strategyunitwm.nhs.uk/publications/new-care-models-whats-evidence" TargetMode="External"/><Relationship Id="rId2" Type="http://schemas.openxmlformats.org/officeDocument/2006/relationships/hyperlink" Target="https://doi.org/10.1016/j.amepre.2022.08.023" TargetMode="External"/><Relationship Id="rId16" Type="http://schemas.openxmlformats.org/officeDocument/2006/relationships/hyperlink" Target="https://doi.org/10.4103/jfmpc.jfmpc_1574_20" TargetMode="External"/><Relationship Id="rId1" Type="http://schemas.openxmlformats.org/officeDocument/2006/relationships/slideLayout" Target="../slideLayouts/slideLayout2.xml"/><Relationship Id="rId6" Type="http://schemas.openxmlformats.org/officeDocument/2006/relationships/hyperlink" Target="https://doi.org/10.4103/jfmpc.jfmpc_29_17" TargetMode="External"/><Relationship Id="rId11" Type="http://schemas.openxmlformats.org/officeDocument/2006/relationships/hyperlink" Target="https://doi.org/10.1108/jica-02-2018-0014" TargetMode="External"/><Relationship Id="rId5" Type="http://schemas.openxmlformats.org/officeDocument/2006/relationships/hyperlink" Target="https://doi.org/10.1177/0973703019872023" TargetMode="External"/><Relationship Id="rId15" Type="http://schemas.openxmlformats.org/officeDocument/2006/relationships/hyperlink" Target="https://apps.who.int/iris/handle/10665/206352" TargetMode="External"/><Relationship Id="rId10" Type="http://schemas.openxmlformats.org/officeDocument/2006/relationships/hyperlink" Target="https://doi.org/10.1111/j.1475-%206773.2011.01318.x" TargetMode="External"/><Relationship Id="rId4" Type="http://schemas.openxmlformats.org/officeDocument/2006/relationships/hyperlink" Target="https://doi.org/10.2105/ajph.93.4.557" TargetMode="External"/><Relationship Id="rId9" Type="http://schemas.openxmlformats.org/officeDocument/2006/relationships/hyperlink" Target="https://doi.org/10.1093/jurban/jti034" TargetMode="External"/><Relationship Id="rId14" Type="http://schemas.openxmlformats.org/officeDocument/2006/relationships/hyperlink" Target="https://doi.org/10.1159/000370197"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Video 4" descr="Hands Forming A Heart">
            <a:extLst>
              <a:ext uri="{FF2B5EF4-FFF2-40B4-BE49-F238E27FC236}">
                <a16:creationId xmlns:a16="http://schemas.microsoft.com/office/drawing/2014/main" id="{30296A11-F749-EE23-F273-3C4B99564C75}"/>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284" r="1" b="1"/>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8061F1-55A3-0ED3-8326-A4FC7818B3B0}"/>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GB" sz="5200" b="1" i="0" dirty="0">
                <a:solidFill>
                  <a:schemeClr val="accent6">
                    <a:lumMod val="50000"/>
                  </a:schemeClr>
                </a:solidFill>
                <a:effectLst/>
                <a:latin typeface="Söhne"/>
              </a:rPr>
              <a:t>The Advantages of Implementing a Neighborhood-Based Primary Healthcare Model and Clinic</a:t>
            </a:r>
            <a:endParaRPr lang="en-GB" sz="5200" b="1" dirty="0">
              <a:solidFill>
                <a:schemeClr val="accent6">
                  <a:lumMod val="50000"/>
                </a:schemeClr>
              </a:solidFill>
            </a:endParaRPr>
          </a:p>
        </p:txBody>
      </p:sp>
      <p:sp>
        <p:nvSpPr>
          <p:cNvPr id="3" name="Subtitle 2">
            <a:extLst>
              <a:ext uri="{FF2B5EF4-FFF2-40B4-BE49-F238E27FC236}">
                <a16:creationId xmlns:a16="http://schemas.microsoft.com/office/drawing/2014/main" id="{89D7B449-4B6F-D429-5BE7-1D16B875ED7B}"/>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r>
              <a:rPr lang="en-GB" sz="2200" b="0" i="0" dirty="0">
                <a:effectLst/>
                <a:latin typeface="Söhne"/>
              </a:rPr>
              <a:t>MSC HEALTHCARE LEADERSHIP AND MANAGEMENT</a:t>
            </a:r>
          </a:p>
          <a:p>
            <a:r>
              <a:rPr lang="en-GB" sz="2200" b="0" i="0" dirty="0" err="1">
                <a:effectLst/>
                <a:latin typeface="Söhne"/>
              </a:rPr>
              <a:t>Dr.</a:t>
            </a:r>
            <a:r>
              <a:rPr lang="en-GB" sz="2200" b="0" i="0" dirty="0">
                <a:effectLst/>
                <a:latin typeface="Söhne"/>
              </a:rPr>
              <a:t> </a:t>
            </a:r>
            <a:r>
              <a:rPr lang="en-GB" sz="2200" b="0" i="0" dirty="0" err="1">
                <a:effectLst/>
                <a:latin typeface="Söhne"/>
              </a:rPr>
              <a:t>Pratish</a:t>
            </a:r>
            <a:endParaRPr lang="en-GB" sz="2200" b="0" i="0" dirty="0">
              <a:effectLst/>
              <a:latin typeface="Söhne"/>
            </a:endParaRPr>
          </a:p>
          <a:p>
            <a:r>
              <a:rPr lang="en-GB" sz="2200" b="0" i="0" dirty="0">
                <a:effectLst/>
                <a:latin typeface="Söhne"/>
              </a:rPr>
              <a:t>Date of the presentation</a:t>
            </a:r>
          </a:p>
          <a:p>
            <a:endParaRPr lang="en-GB" sz="2200" dirty="0"/>
          </a:p>
        </p:txBody>
      </p:sp>
    </p:spTree>
    <p:extLst>
      <p:ext uri="{BB962C8B-B14F-4D97-AF65-F5344CB8AC3E}">
        <p14:creationId xmlns:p14="http://schemas.microsoft.com/office/powerpoint/2010/main" val="1164349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05"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67878-A9AA-96EB-2F90-1251C4545A6B}"/>
              </a:ext>
            </a:extLst>
          </p:cNvPr>
          <p:cNvSpPr>
            <a:spLocks noGrp="1"/>
          </p:cNvSpPr>
          <p:nvPr>
            <p:ph type="title"/>
          </p:nvPr>
        </p:nvSpPr>
        <p:spPr>
          <a:xfrm>
            <a:off x="5868557" y="1138036"/>
            <a:ext cx="5444382" cy="1402470"/>
          </a:xfrm>
        </p:spPr>
        <p:txBody>
          <a:bodyPr anchor="t">
            <a:normAutofit/>
          </a:bodyPr>
          <a:lstStyle/>
          <a:p>
            <a:r>
              <a:rPr lang="en-GB" sz="4000" b="1" i="0" dirty="0">
                <a:effectLst/>
                <a:latin typeface="+mn-lt"/>
              </a:rPr>
              <a:t>Introduction</a:t>
            </a:r>
            <a:endParaRPr lang="en-GB" sz="4000" b="1" dirty="0">
              <a:latin typeface="+mn-lt"/>
            </a:endParaRPr>
          </a:p>
        </p:txBody>
      </p:sp>
      <p:pic>
        <p:nvPicPr>
          <p:cNvPr id="5" name="Picture 4" descr="Desk with stethoscope and computer keyboard">
            <a:extLst>
              <a:ext uri="{FF2B5EF4-FFF2-40B4-BE49-F238E27FC236}">
                <a16:creationId xmlns:a16="http://schemas.microsoft.com/office/drawing/2014/main" id="{AFC3057B-49B8-3394-A4E4-274E7BB10ACC}"/>
              </a:ext>
            </a:extLst>
          </p:cNvPr>
          <p:cNvPicPr>
            <a:picLocks noChangeAspect="1"/>
          </p:cNvPicPr>
          <p:nvPr/>
        </p:nvPicPr>
        <p:blipFill rotWithShape="1">
          <a:blip r:embed="rId3"/>
          <a:srcRect l="49863" r="-1" b="-1"/>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323A087-477F-23CC-3EA9-12D4140FA19A}"/>
              </a:ext>
            </a:extLst>
          </p:cNvPr>
          <p:cNvSpPr>
            <a:spLocks noGrp="1"/>
          </p:cNvSpPr>
          <p:nvPr>
            <p:ph idx="1"/>
          </p:nvPr>
        </p:nvSpPr>
        <p:spPr>
          <a:xfrm>
            <a:off x="5868557" y="2551176"/>
            <a:ext cx="5444382" cy="3591207"/>
          </a:xfrm>
        </p:spPr>
        <p:txBody>
          <a:bodyPr>
            <a:normAutofit/>
          </a:bodyPr>
          <a:lstStyle/>
          <a:p>
            <a:pPr marL="0" indent="0">
              <a:buNone/>
            </a:pPr>
            <a:r>
              <a:rPr lang="en-GB" sz="2000" b="0" i="0" dirty="0">
                <a:effectLst/>
              </a:rPr>
              <a:t>Topic Introduction and Importance of Primary Healthcare in Neighborhoods:</a:t>
            </a:r>
          </a:p>
          <a:p>
            <a:pPr>
              <a:buFont typeface="Arial" panose="020B0604020202020204" pitchFamily="34" charset="0"/>
              <a:buChar char="•"/>
            </a:pPr>
            <a:r>
              <a:rPr lang="en-GB" sz="2000" b="0" i="0" dirty="0">
                <a:effectLst/>
              </a:rPr>
              <a:t>First point of contact</a:t>
            </a:r>
          </a:p>
          <a:p>
            <a:pPr>
              <a:buFont typeface="Arial" panose="020B0604020202020204" pitchFamily="34" charset="0"/>
              <a:buChar char="•"/>
            </a:pPr>
            <a:r>
              <a:rPr lang="en-GB" sz="2000" b="0" i="0" dirty="0">
                <a:effectLst/>
              </a:rPr>
              <a:t>Promoting community health, preventing illnesses, and addressing minor health concerns</a:t>
            </a:r>
          </a:p>
          <a:p>
            <a:pPr>
              <a:buFont typeface="Arial" panose="020B0604020202020204" pitchFamily="34" charset="0"/>
              <a:buChar char="•"/>
            </a:pPr>
            <a:r>
              <a:rPr lang="en-GB" sz="2000" b="0" i="0" dirty="0">
                <a:effectLst/>
              </a:rPr>
              <a:t>Equitable healthcare distribution</a:t>
            </a:r>
          </a:p>
          <a:p>
            <a:pPr>
              <a:buFont typeface="Arial" panose="020B0604020202020204" pitchFamily="34" charset="0"/>
              <a:buChar char="•"/>
            </a:pPr>
            <a:r>
              <a:rPr lang="en-GB" sz="2000" b="0" i="0" dirty="0">
                <a:effectLst/>
              </a:rPr>
              <a:t>Proactive health management and community engagement </a:t>
            </a:r>
          </a:p>
          <a:p>
            <a:pPr marL="0" indent="0">
              <a:buNone/>
            </a:pPr>
            <a:endParaRPr lang="en-GB" sz="2000" b="0" i="0" dirty="0">
              <a:effectLst/>
            </a:endParaRPr>
          </a:p>
        </p:txBody>
      </p:sp>
    </p:spTree>
    <p:extLst>
      <p:ext uri="{BB962C8B-B14F-4D97-AF65-F5344CB8AC3E}">
        <p14:creationId xmlns:p14="http://schemas.microsoft.com/office/powerpoint/2010/main" val="2571092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4">
            <a:extLst>
              <a:ext uri="{FF2B5EF4-FFF2-40B4-BE49-F238E27FC236}">
                <a16:creationId xmlns:a16="http://schemas.microsoft.com/office/drawing/2014/main" id="{1A9F7B4E-B03D-4F64-BE33-00D074458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blue and white sky&#10;&#10;Description automatically generated">
            <a:extLst>
              <a:ext uri="{FF2B5EF4-FFF2-40B4-BE49-F238E27FC236}">
                <a16:creationId xmlns:a16="http://schemas.microsoft.com/office/drawing/2014/main" id="{8BD405ED-3531-53BB-EAC5-1B9253E6C631}"/>
              </a:ext>
            </a:extLst>
          </p:cNvPr>
          <p:cNvPicPr>
            <a:picLocks noChangeAspect="1"/>
          </p:cNvPicPr>
          <p:nvPr/>
        </p:nvPicPr>
        <p:blipFill rotWithShape="1">
          <a:blip r:embed="rId3">
            <a:alphaModFix amt="40000"/>
          </a:blip>
          <a:srcRect t="10493" b="10002"/>
          <a:stretch/>
        </p:blipFill>
        <p:spPr>
          <a:xfrm>
            <a:off x="20" y="10"/>
            <a:ext cx="12191980" cy="6857990"/>
          </a:xfrm>
          <a:prstGeom prst="rect">
            <a:avLst/>
          </a:prstGeom>
        </p:spPr>
      </p:pic>
      <p:sp>
        <p:nvSpPr>
          <p:cNvPr id="20" name="sketchy line">
            <a:extLst>
              <a:ext uri="{FF2B5EF4-FFF2-40B4-BE49-F238E27FC236}">
                <a16:creationId xmlns:a16="http://schemas.microsoft.com/office/drawing/2014/main" id="{7E2BE7F7-CA89-4002-ACCE-A478AEA24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4399" y="1681544"/>
            <a:ext cx="9692640" cy="18288"/>
          </a:xfrm>
          <a:custGeom>
            <a:avLst/>
            <a:gdLst>
              <a:gd name="connsiteX0" fmla="*/ 0 w 9692640"/>
              <a:gd name="connsiteY0" fmla="*/ 0 h 18288"/>
              <a:gd name="connsiteX1" fmla="*/ 401552 w 9692640"/>
              <a:gd name="connsiteY1" fmla="*/ 0 h 18288"/>
              <a:gd name="connsiteX2" fmla="*/ 996957 w 9692640"/>
              <a:gd name="connsiteY2" fmla="*/ 0 h 18288"/>
              <a:gd name="connsiteX3" fmla="*/ 1398509 w 9692640"/>
              <a:gd name="connsiteY3" fmla="*/ 0 h 18288"/>
              <a:gd name="connsiteX4" fmla="*/ 2090841 w 9692640"/>
              <a:gd name="connsiteY4" fmla="*/ 0 h 18288"/>
              <a:gd name="connsiteX5" fmla="*/ 2686246 w 9692640"/>
              <a:gd name="connsiteY5" fmla="*/ 0 h 18288"/>
              <a:gd name="connsiteX6" fmla="*/ 3475504 w 9692640"/>
              <a:gd name="connsiteY6" fmla="*/ 0 h 18288"/>
              <a:gd name="connsiteX7" fmla="*/ 4361688 w 9692640"/>
              <a:gd name="connsiteY7" fmla="*/ 0 h 18288"/>
              <a:gd name="connsiteX8" fmla="*/ 5054019 w 9692640"/>
              <a:gd name="connsiteY8" fmla="*/ 0 h 18288"/>
              <a:gd name="connsiteX9" fmla="*/ 5940204 w 9692640"/>
              <a:gd name="connsiteY9" fmla="*/ 0 h 18288"/>
              <a:gd name="connsiteX10" fmla="*/ 6632535 w 9692640"/>
              <a:gd name="connsiteY10" fmla="*/ 0 h 18288"/>
              <a:gd name="connsiteX11" fmla="*/ 7034087 w 9692640"/>
              <a:gd name="connsiteY11" fmla="*/ 0 h 18288"/>
              <a:gd name="connsiteX12" fmla="*/ 7532566 w 9692640"/>
              <a:gd name="connsiteY12" fmla="*/ 0 h 18288"/>
              <a:gd name="connsiteX13" fmla="*/ 8418750 w 9692640"/>
              <a:gd name="connsiteY13" fmla="*/ 0 h 18288"/>
              <a:gd name="connsiteX14" fmla="*/ 9692640 w 9692640"/>
              <a:gd name="connsiteY14" fmla="*/ 0 h 18288"/>
              <a:gd name="connsiteX15" fmla="*/ 9692640 w 9692640"/>
              <a:gd name="connsiteY15" fmla="*/ 18288 h 18288"/>
              <a:gd name="connsiteX16" fmla="*/ 9000309 w 9692640"/>
              <a:gd name="connsiteY16" fmla="*/ 18288 h 18288"/>
              <a:gd name="connsiteX17" fmla="*/ 8307977 w 9692640"/>
              <a:gd name="connsiteY17" fmla="*/ 18288 h 18288"/>
              <a:gd name="connsiteX18" fmla="*/ 7712572 w 9692640"/>
              <a:gd name="connsiteY18" fmla="*/ 18288 h 18288"/>
              <a:gd name="connsiteX19" fmla="*/ 7214093 w 9692640"/>
              <a:gd name="connsiteY19" fmla="*/ 18288 h 18288"/>
              <a:gd name="connsiteX20" fmla="*/ 6327909 w 9692640"/>
              <a:gd name="connsiteY20" fmla="*/ 18288 h 18288"/>
              <a:gd name="connsiteX21" fmla="*/ 5635578 w 9692640"/>
              <a:gd name="connsiteY21" fmla="*/ 18288 h 18288"/>
              <a:gd name="connsiteX22" fmla="*/ 4846320 w 9692640"/>
              <a:gd name="connsiteY22" fmla="*/ 18288 h 18288"/>
              <a:gd name="connsiteX23" fmla="*/ 4444768 w 9692640"/>
              <a:gd name="connsiteY23" fmla="*/ 18288 h 18288"/>
              <a:gd name="connsiteX24" fmla="*/ 3946289 w 9692640"/>
              <a:gd name="connsiteY24" fmla="*/ 18288 h 18288"/>
              <a:gd name="connsiteX25" fmla="*/ 3253958 w 9692640"/>
              <a:gd name="connsiteY25" fmla="*/ 18288 h 18288"/>
              <a:gd name="connsiteX26" fmla="*/ 2464700 w 9692640"/>
              <a:gd name="connsiteY26" fmla="*/ 18288 h 18288"/>
              <a:gd name="connsiteX27" fmla="*/ 2063148 w 9692640"/>
              <a:gd name="connsiteY27" fmla="*/ 18288 h 18288"/>
              <a:gd name="connsiteX28" fmla="*/ 1661595 w 9692640"/>
              <a:gd name="connsiteY28" fmla="*/ 18288 h 18288"/>
              <a:gd name="connsiteX29" fmla="*/ 969264 w 9692640"/>
              <a:gd name="connsiteY29" fmla="*/ 18288 h 18288"/>
              <a:gd name="connsiteX30" fmla="*/ 0 w 9692640"/>
              <a:gd name="connsiteY30" fmla="*/ 18288 h 18288"/>
              <a:gd name="connsiteX31" fmla="*/ 0 w 9692640"/>
              <a:gd name="connsiteY3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692640" h="18288" fill="none" extrusionOk="0">
                <a:moveTo>
                  <a:pt x="0" y="0"/>
                </a:moveTo>
                <a:cubicBezTo>
                  <a:pt x="142992" y="4732"/>
                  <a:pt x="265909" y="-3365"/>
                  <a:pt x="401552" y="0"/>
                </a:cubicBezTo>
                <a:cubicBezTo>
                  <a:pt x="537195" y="3365"/>
                  <a:pt x="738153" y="6482"/>
                  <a:pt x="996957" y="0"/>
                </a:cubicBezTo>
                <a:cubicBezTo>
                  <a:pt x="1255762" y="-6482"/>
                  <a:pt x="1280511" y="12509"/>
                  <a:pt x="1398509" y="0"/>
                </a:cubicBezTo>
                <a:cubicBezTo>
                  <a:pt x="1516507" y="-12509"/>
                  <a:pt x="1782573" y="-31523"/>
                  <a:pt x="2090841" y="0"/>
                </a:cubicBezTo>
                <a:cubicBezTo>
                  <a:pt x="2399109" y="31523"/>
                  <a:pt x="2488380" y="26286"/>
                  <a:pt x="2686246" y="0"/>
                </a:cubicBezTo>
                <a:cubicBezTo>
                  <a:pt x="2884112" y="-26286"/>
                  <a:pt x="3186024" y="-14734"/>
                  <a:pt x="3475504" y="0"/>
                </a:cubicBezTo>
                <a:cubicBezTo>
                  <a:pt x="3764984" y="14734"/>
                  <a:pt x="4053017" y="43292"/>
                  <a:pt x="4361688" y="0"/>
                </a:cubicBezTo>
                <a:cubicBezTo>
                  <a:pt x="4670359" y="-43292"/>
                  <a:pt x="4736164" y="-729"/>
                  <a:pt x="5054019" y="0"/>
                </a:cubicBezTo>
                <a:cubicBezTo>
                  <a:pt x="5371874" y="729"/>
                  <a:pt x="5543528" y="-22963"/>
                  <a:pt x="5940204" y="0"/>
                </a:cubicBezTo>
                <a:cubicBezTo>
                  <a:pt x="6336881" y="22963"/>
                  <a:pt x="6423838" y="6469"/>
                  <a:pt x="6632535" y="0"/>
                </a:cubicBezTo>
                <a:cubicBezTo>
                  <a:pt x="6841232" y="-6469"/>
                  <a:pt x="6852819" y="17036"/>
                  <a:pt x="7034087" y="0"/>
                </a:cubicBezTo>
                <a:cubicBezTo>
                  <a:pt x="7215355" y="-17036"/>
                  <a:pt x="7313136" y="11151"/>
                  <a:pt x="7532566" y="0"/>
                </a:cubicBezTo>
                <a:cubicBezTo>
                  <a:pt x="7751996" y="-11151"/>
                  <a:pt x="8015001" y="25614"/>
                  <a:pt x="8418750" y="0"/>
                </a:cubicBezTo>
                <a:cubicBezTo>
                  <a:pt x="8822499" y="-25614"/>
                  <a:pt x="9163239" y="48603"/>
                  <a:pt x="9692640" y="0"/>
                </a:cubicBezTo>
                <a:cubicBezTo>
                  <a:pt x="9691955" y="4437"/>
                  <a:pt x="9693170" y="10717"/>
                  <a:pt x="9692640" y="18288"/>
                </a:cubicBezTo>
                <a:cubicBezTo>
                  <a:pt x="9545125" y="42172"/>
                  <a:pt x="9164259" y="6706"/>
                  <a:pt x="9000309" y="18288"/>
                </a:cubicBezTo>
                <a:cubicBezTo>
                  <a:pt x="8836359" y="29870"/>
                  <a:pt x="8521035" y="-14108"/>
                  <a:pt x="8307977" y="18288"/>
                </a:cubicBezTo>
                <a:cubicBezTo>
                  <a:pt x="8094919" y="50684"/>
                  <a:pt x="7881757" y="11235"/>
                  <a:pt x="7712572" y="18288"/>
                </a:cubicBezTo>
                <a:cubicBezTo>
                  <a:pt x="7543387" y="25341"/>
                  <a:pt x="7358861" y="20625"/>
                  <a:pt x="7214093" y="18288"/>
                </a:cubicBezTo>
                <a:cubicBezTo>
                  <a:pt x="7069325" y="15951"/>
                  <a:pt x="6523705" y="52160"/>
                  <a:pt x="6327909" y="18288"/>
                </a:cubicBezTo>
                <a:cubicBezTo>
                  <a:pt x="6132113" y="-15584"/>
                  <a:pt x="5923847" y="21204"/>
                  <a:pt x="5635578" y="18288"/>
                </a:cubicBezTo>
                <a:cubicBezTo>
                  <a:pt x="5347309" y="15372"/>
                  <a:pt x="5114749" y="50642"/>
                  <a:pt x="4846320" y="18288"/>
                </a:cubicBezTo>
                <a:cubicBezTo>
                  <a:pt x="4577891" y="-14066"/>
                  <a:pt x="4576701" y="1487"/>
                  <a:pt x="4444768" y="18288"/>
                </a:cubicBezTo>
                <a:cubicBezTo>
                  <a:pt x="4312835" y="35089"/>
                  <a:pt x="4112575" y="15158"/>
                  <a:pt x="3946289" y="18288"/>
                </a:cubicBezTo>
                <a:cubicBezTo>
                  <a:pt x="3780003" y="21418"/>
                  <a:pt x="3396009" y="18797"/>
                  <a:pt x="3253958" y="18288"/>
                </a:cubicBezTo>
                <a:cubicBezTo>
                  <a:pt x="3111907" y="17779"/>
                  <a:pt x="2760272" y="57223"/>
                  <a:pt x="2464700" y="18288"/>
                </a:cubicBezTo>
                <a:cubicBezTo>
                  <a:pt x="2169128" y="-20647"/>
                  <a:pt x="2232262" y="7960"/>
                  <a:pt x="2063148" y="18288"/>
                </a:cubicBezTo>
                <a:cubicBezTo>
                  <a:pt x="1894034" y="28616"/>
                  <a:pt x="1799338" y="3019"/>
                  <a:pt x="1661595" y="18288"/>
                </a:cubicBezTo>
                <a:cubicBezTo>
                  <a:pt x="1523852" y="33557"/>
                  <a:pt x="1113928" y="-4352"/>
                  <a:pt x="969264" y="18288"/>
                </a:cubicBezTo>
                <a:cubicBezTo>
                  <a:pt x="824600" y="40928"/>
                  <a:pt x="356149" y="-3128"/>
                  <a:pt x="0" y="18288"/>
                </a:cubicBezTo>
                <a:cubicBezTo>
                  <a:pt x="-540" y="12521"/>
                  <a:pt x="894" y="7749"/>
                  <a:pt x="0" y="0"/>
                </a:cubicBezTo>
                <a:close/>
              </a:path>
              <a:path w="9692640" h="18288" stroke="0" extrusionOk="0">
                <a:moveTo>
                  <a:pt x="0" y="0"/>
                </a:moveTo>
                <a:cubicBezTo>
                  <a:pt x="162642" y="3864"/>
                  <a:pt x="346119" y="-18364"/>
                  <a:pt x="498479" y="0"/>
                </a:cubicBezTo>
                <a:cubicBezTo>
                  <a:pt x="650839" y="18364"/>
                  <a:pt x="712065" y="-9389"/>
                  <a:pt x="900031" y="0"/>
                </a:cubicBezTo>
                <a:cubicBezTo>
                  <a:pt x="1087997" y="9389"/>
                  <a:pt x="1177291" y="3685"/>
                  <a:pt x="1398509" y="0"/>
                </a:cubicBezTo>
                <a:cubicBezTo>
                  <a:pt x="1619727" y="-3685"/>
                  <a:pt x="1874008" y="-8897"/>
                  <a:pt x="2090841" y="0"/>
                </a:cubicBezTo>
                <a:cubicBezTo>
                  <a:pt x="2307674" y="8897"/>
                  <a:pt x="2573432" y="-313"/>
                  <a:pt x="2880099" y="0"/>
                </a:cubicBezTo>
                <a:cubicBezTo>
                  <a:pt x="3186766" y="313"/>
                  <a:pt x="3422577" y="10664"/>
                  <a:pt x="3766283" y="0"/>
                </a:cubicBezTo>
                <a:cubicBezTo>
                  <a:pt x="4109989" y="-10664"/>
                  <a:pt x="4342683" y="-32873"/>
                  <a:pt x="4652467" y="0"/>
                </a:cubicBezTo>
                <a:cubicBezTo>
                  <a:pt x="4962251" y="32873"/>
                  <a:pt x="5122120" y="29155"/>
                  <a:pt x="5247872" y="0"/>
                </a:cubicBezTo>
                <a:cubicBezTo>
                  <a:pt x="5373625" y="-29155"/>
                  <a:pt x="5749491" y="1706"/>
                  <a:pt x="6037130" y="0"/>
                </a:cubicBezTo>
                <a:cubicBezTo>
                  <a:pt x="6324769" y="-1706"/>
                  <a:pt x="6531407" y="1172"/>
                  <a:pt x="6729461" y="0"/>
                </a:cubicBezTo>
                <a:cubicBezTo>
                  <a:pt x="6927515" y="-1172"/>
                  <a:pt x="7096794" y="-1520"/>
                  <a:pt x="7324867" y="0"/>
                </a:cubicBezTo>
                <a:cubicBezTo>
                  <a:pt x="7552940" y="1520"/>
                  <a:pt x="7878827" y="-17110"/>
                  <a:pt x="8114124" y="0"/>
                </a:cubicBezTo>
                <a:cubicBezTo>
                  <a:pt x="8349421" y="17110"/>
                  <a:pt x="8334208" y="15114"/>
                  <a:pt x="8515677" y="0"/>
                </a:cubicBezTo>
                <a:cubicBezTo>
                  <a:pt x="8697146" y="-15114"/>
                  <a:pt x="9236164" y="22466"/>
                  <a:pt x="9692640" y="0"/>
                </a:cubicBezTo>
                <a:cubicBezTo>
                  <a:pt x="9692735" y="8251"/>
                  <a:pt x="9692514" y="12333"/>
                  <a:pt x="9692640" y="18288"/>
                </a:cubicBezTo>
                <a:cubicBezTo>
                  <a:pt x="9410102" y="47398"/>
                  <a:pt x="9172773" y="7109"/>
                  <a:pt x="9000309" y="18288"/>
                </a:cubicBezTo>
                <a:cubicBezTo>
                  <a:pt x="8827845" y="29467"/>
                  <a:pt x="8713608" y="28372"/>
                  <a:pt x="8501830" y="18288"/>
                </a:cubicBezTo>
                <a:cubicBezTo>
                  <a:pt x="8290052" y="8204"/>
                  <a:pt x="7893416" y="3561"/>
                  <a:pt x="7712572" y="18288"/>
                </a:cubicBezTo>
                <a:cubicBezTo>
                  <a:pt x="7531728" y="33015"/>
                  <a:pt x="7480716" y="17052"/>
                  <a:pt x="7311020" y="18288"/>
                </a:cubicBezTo>
                <a:cubicBezTo>
                  <a:pt x="7141324" y="19524"/>
                  <a:pt x="6962706" y="15975"/>
                  <a:pt x="6618688" y="18288"/>
                </a:cubicBezTo>
                <a:cubicBezTo>
                  <a:pt x="6274670" y="20601"/>
                  <a:pt x="6230664" y="-1692"/>
                  <a:pt x="6120210" y="18288"/>
                </a:cubicBezTo>
                <a:cubicBezTo>
                  <a:pt x="6009756" y="38268"/>
                  <a:pt x="5442516" y="28115"/>
                  <a:pt x="5234026" y="18288"/>
                </a:cubicBezTo>
                <a:cubicBezTo>
                  <a:pt x="5025536" y="8461"/>
                  <a:pt x="4953693" y="18182"/>
                  <a:pt x="4832473" y="18288"/>
                </a:cubicBezTo>
                <a:cubicBezTo>
                  <a:pt x="4711253" y="18394"/>
                  <a:pt x="4414565" y="-11251"/>
                  <a:pt x="4140142" y="18288"/>
                </a:cubicBezTo>
                <a:cubicBezTo>
                  <a:pt x="3865719" y="47827"/>
                  <a:pt x="3819081" y="16772"/>
                  <a:pt x="3738590" y="18288"/>
                </a:cubicBezTo>
                <a:cubicBezTo>
                  <a:pt x="3658099" y="19804"/>
                  <a:pt x="3427576" y="1385"/>
                  <a:pt x="3240111" y="18288"/>
                </a:cubicBezTo>
                <a:cubicBezTo>
                  <a:pt x="3052646" y="35191"/>
                  <a:pt x="2749652" y="-13914"/>
                  <a:pt x="2450853" y="18288"/>
                </a:cubicBezTo>
                <a:cubicBezTo>
                  <a:pt x="2152054" y="50490"/>
                  <a:pt x="1928331" y="61101"/>
                  <a:pt x="1564669" y="18288"/>
                </a:cubicBezTo>
                <a:cubicBezTo>
                  <a:pt x="1201007" y="-24525"/>
                  <a:pt x="1217828" y="-275"/>
                  <a:pt x="1066190" y="18288"/>
                </a:cubicBezTo>
                <a:cubicBezTo>
                  <a:pt x="914552" y="36851"/>
                  <a:pt x="418290" y="-14785"/>
                  <a:pt x="0" y="18288"/>
                </a:cubicBezTo>
                <a:cubicBezTo>
                  <a:pt x="641" y="14236"/>
                  <a:pt x="889" y="755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7D4D0E54-B2F1-2B1C-EF5A-A7223B211FAC}"/>
              </a:ext>
            </a:extLst>
          </p:cNvPr>
          <p:cNvGraphicFramePr>
            <a:graphicFrameLocks noGrp="1"/>
          </p:cNvGraphicFramePr>
          <p:nvPr>
            <p:ph idx="1"/>
            <p:extLst>
              <p:ext uri="{D42A27DB-BD31-4B8C-83A1-F6EECF244321}">
                <p14:modId xmlns:p14="http://schemas.microsoft.com/office/powerpoint/2010/main" val="2634057208"/>
              </p:ext>
            </p:extLst>
          </p:nvPr>
        </p:nvGraphicFramePr>
        <p:xfrm>
          <a:off x="838200" y="2004446"/>
          <a:ext cx="10515600" cy="417689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17224103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BAA85E2-A05B-0BF2-F12D-F0C3BFC92E8D}"/>
              </a:ext>
            </a:extLst>
          </p:cNvPr>
          <p:cNvPicPr>
            <a:picLocks noChangeAspect="1"/>
          </p:cNvPicPr>
          <p:nvPr/>
        </p:nvPicPr>
        <p:blipFill rotWithShape="1">
          <a:blip r:embed="rId3">
            <a:alphaModFix amt="35000"/>
          </a:blip>
          <a:srcRect t="7529" b="8201"/>
          <a:stretch/>
        </p:blipFill>
        <p:spPr>
          <a:xfrm>
            <a:off x="20" y="10"/>
            <a:ext cx="12191980" cy="6857990"/>
          </a:xfrm>
          <a:prstGeom prst="rect">
            <a:avLst/>
          </a:prstGeom>
        </p:spPr>
      </p:pic>
      <p:sp>
        <p:nvSpPr>
          <p:cNvPr id="2" name="Title 1">
            <a:extLst>
              <a:ext uri="{FF2B5EF4-FFF2-40B4-BE49-F238E27FC236}">
                <a16:creationId xmlns:a16="http://schemas.microsoft.com/office/drawing/2014/main" id="{FAB6A14A-F94E-9558-79C4-C29F8956775B}"/>
              </a:ext>
            </a:extLst>
          </p:cNvPr>
          <p:cNvSpPr>
            <a:spLocks noGrp="1"/>
          </p:cNvSpPr>
          <p:nvPr>
            <p:ph type="title"/>
          </p:nvPr>
        </p:nvSpPr>
        <p:spPr>
          <a:xfrm>
            <a:off x="838200" y="365125"/>
            <a:ext cx="10515600" cy="1325563"/>
          </a:xfrm>
        </p:spPr>
        <p:txBody>
          <a:bodyPr>
            <a:normAutofit/>
          </a:bodyPr>
          <a:lstStyle/>
          <a:p>
            <a:r>
              <a:rPr lang="en-GB" sz="4000" b="1" i="0" dirty="0">
                <a:solidFill>
                  <a:srgbClr val="FFFFFF"/>
                </a:solidFill>
                <a:effectLst/>
                <a:latin typeface="+mn-lt"/>
              </a:rPr>
              <a:t>Aim of the Literature Review: Research Objective</a:t>
            </a:r>
            <a:endParaRPr lang="en-GB" sz="4000" b="1" dirty="0">
              <a:solidFill>
                <a:srgbClr val="FFFFFF"/>
              </a:solidFill>
              <a:latin typeface="+mn-lt"/>
            </a:endParaRPr>
          </a:p>
        </p:txBody>
      </p:sp>
      <p:graphicFrame>
        <p:nvGraphicFramePr>
          <p:cNvPr id="5" name="Content Placeholder 2">
            <a:extLst>
              <a:ext uri="{FF2B5EF4-FFF2-40B4-BE49-F238E27FC236}">
                <a16:creationId xmlns:a16="http://schemas.microsoft.com/office/drawing/2014/main" id="{A82ECE86-CB16-59E0-9B30-1AC22D6BC637}"/>
              </a:ext>
            </a:extLst>
          </p:cNvPr>
          <p:cNvGraphicFramePr>
            <a:graphicFrameLocks noGrp="1"/>
          </p:cNvGraphicFramePr>
          <p:nvPr>
            <p:ph idx="1"/>
            <p:extLst>
              <p:ext uri="{D42A27DB-BD31-4B8C-83A1-F6EECF244321}">
                <p14:modId xmlns:p14="http://schemas.microsoft.com/office/powerpoint/2010/main" val="119878335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68516381"/>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29">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7C23E8F-63B5-6DF2-9E1C-077B6BBEAE30}"/>
              </a:ext>
            </a:extLst>
          </p:cNvPr>
          <p:cNvPicPr>
            <a:picLocks noChangeAspect="1"/>
          </p:cNvPicPr>
          <p:nvPr/>
        </p:nvPicPr>
        <p:blipFill rotWithShape="1">
          <a:blip r:embed="rId3"/>
          <a:srcRect t="9361" r="5704" b="2625"/>
          <a:stretch/>
        </p:blipFill>
        <p:spPr>
          <a:xfrm>
            <a:off x="3522468" y="10"/>
            <a:ext cx="8669532" cy="6857990"/>
          </a:xfrm>
          <a:prstGeom prst="rect">
            <a:avLst/>
          </a:prstGeom>
        </p:spPr>
      </p:pic>
      <p:sp>
        <p:nvSpPr>
          <p:cNvPr id="37" name="Rectangle 31">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4D67878-A9AA-96EB-2F90-1251C4545A6B}"/>
              </a:ext>
            </a:extLst>
          </p:cNvPr>
          <p:cNvSpPr>
            <a:spLocks noGrp="1"/>
          </p:cNvSpPr>
          <p:nvPr>
            <p:ph type="title"/>
          </p:nvPr>
        </p:nvSpPr>
        <p:spPr>
          <a:xfrm>
            <a:off x="371094" y="1161288"/>
            <a:ext cx="3438144" cy="1124712"/>
          </a:xfrm>
        </p:spPr>
        <p:txBody>
          <a:bodyPr anchor="b">
            <a:normAutofit/>
          </a:bodyPr>
          <a:lstStyle/>
          <a:p>
            <a:r>
              <a:rPr lang="en-GB" sz="3200" b="1" i="0" dirty="0">
                <a:solidFill>
                  <a:schemeClr val="bg1"/>
                </a:solidFill>
                <a:effectLst/>
                <a:latin typeface="+mn-lt"/>
              </a:rPr>
              <a:t>Literature Review Methodology</a:t>
            </a:r>
            <a:endParaRPr lang="en-GB" sz="3200" b="1" dirty="0">
              <a:solidFill>
                <a:schemeClr val="bg1"/>
              </a:solidFill>
              <a:latin typeface="+mn-lt"/>
            </a:endParaRPr>
          </a:p>
        </p:txBody>
      </p:sp>
      <p:sp>
        <p:nvSpPr>
          <p:cNvPr id="34" name="Rectangle 33">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6" name="Rectangle 35">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323A087-477F-23CC-3EA9-12D4140FA19A}"/>
              </a:ext>
            </a:extLst>
          </p:cNvPr>
          <p:cNvSpPr>
            <a:spLocks noGrp="1"/>
          </p:cNvSpPr>
          <p:nvPr>
            <p:ph idx="1"/>
          </p:nvPr>
        </p:nvSpPr>
        <p:spPr>
          <a:xfrm>
            <a:off x="371094" y="2718054"/>
            <a:ext cx="3438906" cy="3207258"/>
          </a:xfrm>
        </p:spPr>
        <p:txBody>
          <a:bodyPr anchor="t">
            <a:normAutofit/>
          </a:bodyPr>
          <a:lstStyle/>
          <a:p>
            <a:pPr>
              <a:buFont typeface="Arial" panose="020B0604020202020204" pitchFamily="34" charset="0"/>
              <a:buChar char="•"/>
            </a:pPr>
            <a:r>
              <a:rPr lang="en-GB" sz="2000" b="0" i="0" dirty="0">
                <a:solidFill>
                  <a:schemeClr val="bg1"/>
                </a:solidFill>
                <a:effectLst/>
              </a:rPr>
              <a:t>JBI scoping review guidance followed, and the databases searched (Medline, Web of Science, PubMed, and Google Scholar-Advanced).</a:t>
            </a:r>
          </a:p>
          <a:p>
            <a:pPr>
              <a:buFont typeface="Arial" panose="020B0604020202020204" pitchFamily="34" charset="0"/>
              <a:buChar char="•"/>
            </a:pPr>
            <a:r>
              <a:rPr lang="en-GB" sz="2000" dirty="0">
                <a:solidFill>
                  <a:schemeClr val="bg1"/>
                </a:solidFill>
              </a:rPr>
              <a:t>15 eligible articles included in this review</a:t>
            </a:r>
            <a:endParaRPr lang="en-GB" sz="2000" b="0" i="0" dirty="0">
              <a:solidFill>
                <a:schemeClr val="bg1"/>
              </a:solidFill>
              <a:effectLst/>
            </a:endParaRPr>
          </a:p>
        </p:txBody>
      </p:sp>
    </p:spTree>
    <p:extLst>
      <p:ext uri="{BB962C8B-B14F-4D97-AF65-F5344CB8AC3E}">
        <p14:creationId xmlns:p14="http://schemas.microsoft.com/office/powerpoint/2010/main" val="3465223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cxnSp>
        <p:nvCxnSpPr>
          <p:cNvPr id="28" name="Straight Connector 27">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A46633E-D93C-9385-36DE-01D31C986D37}"/>
              </a:ext>
            </a:extLst>
          </p:cNvPr>
          <p:cNvSpPr>
            <a:spLocks noGrp="1"/>
          </p:cNvSpPr>
          <p:nvPr>
            <p:ph idx="1"/>
          </p:nvPr>
        </p:nvSpPr>
        <p:spPr>
          <a:xfrm>
            <a:off x="897769" y="1909192"/>
            <a:ext cx="4586513" cy="3647710"/>
          </a:xfrm>
        </p:spPr>
        <p:txBody>
          <a:bodyPr>
            <a:normAutofit/>
          </a:bodyPr>
          <a:lstStyle/>
          <a:p>
            <a:r>
              <a:rPr lang="en-GB" sz="2000" b="0" i="0" dirty="0">
                <a:solidFill>
                  <a:schemeClr val="bg1"/>
                </a:solidFill>
                <a:effectLst/>
              </a:rPr>
              <a:t>Explain the inclusion and exclusion criteria used to select relevant articles.</a:t>
            </a:r>
          </a:p>
        </p:txBody>
      </p:sp>
      <p:cxnSp>
        <p:nvCxnSpPr>
          <p:cNvPr id="30" name="Straight Connector 29">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64D63C43-15CA-FEE0-D42B-CB0E749F6D10}"/>
              </a:ext>
            </a:extLst>
          </p:cNvPr>
          <p:cNvPicPr>
            <a:picLocks noChangeAspect="1"/>
          </p:cNvPicPr>
          <p:nvPr/>
        </p:nvPicPr>
        <p:blipFill>
          <a:blip r:embed="rId2"/>
          <a:stretch>
            <a:fillRect/>
          </a:stretch>
        </p:blipFill>
        <p:spPr>
          <a:xfrm>
            <a:off x="6525453" y="364250"/>
            <a:ext cx="5666547" cy="6129500"/>
          </a:xfrm>
          <a:prstGeom prst="rect">
            <a:avLst/>
          </a:prstGeom>
        </p:spPr>
      </p:pic>
    </p:spTree>
    <p:extLst>
      <p:ext uri="{BB962C8B-B14F-4D97-AF65-F5344CB8AC3E}">
        <p14:creationId xmlns:p14="http://schemas.microsoft.com/office/powerpoint/2010/main" val="532499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D67878-A9AA-96EB-2F90-1251C4545A6B}"/>
              </a:ext>
            </a:extLst>
          </p:cNvPr>
          <p:cNvSpPr>
            <a:spLocks noGrp="1"/>
          </p:cNvSpPr>
          <p:nvPr>
            <p:ph type="title"/>
          </p:nvPr>
        </p:nvSpPr>
        <p:spPr>
          <a:xfrm>
            <a:off x="838200" y="1641752"/>
            <a:ext cx="4391024" cy="1323439"/>
          </a:xfrm>
        </p:spPr>
        <p:txBody>
          <a:bodyPr anchor="t">
            <a:normAutofit/>
          </a:bodyPr>
          <a:lstStyle/>
          <a:p>
            <a:r>
              <a:rPr lang="en-GB" sz="4000" b="1" i="0" dirty="0">
                <a:solidFill>
                  <a:schemeClr val="bg1"/>
                </a:solidFill>
                <a:effectLst/>
                <a:latin typeface="+mn-lt"/>
              </a:rPr>
              <a:t>Results</a:t>
            </a:r>
            <a:endParaRPr lang="en-GB" sz="4000" b="1" dirty="0">
              <a:solidFill>
                <a:schemeClr val="bg1"/>
              </a:solidFill>
              <a:latin typeface="+mn-lt"/>
            </a:endParaRPr>
          </a:p>
        </p:txBody>
      </p:sp>
      <p:sp>
        <p:nvSpPr>
          <p:cNvPr id="3" name="Content Placeholder 2">
            <a:extLst>
              <a:ext uri="{FF2B5EF4-FFF2-40B4-BE49-F238E27FC236}">
                <a16:creationId xmlns:a16="http://schemas.microsoft.com/office/drawing/2014/main" id="{9323A087-477F-23CC-3EA9-12D4140FA19A}"/>
              </a:ext>
            </a:extLst>
          </p:cNvPr>
          <p:cNvSpPr>
            <a:spLocks noGrp="1"/>
          </p:cNvSpPr>
          <p:nvPr>
            <p:ph idx="1"/>
          </p:nvPr>
        </p:nvSpPr>
        <p:spPr>
          <a:xfrm>
            <a:off x="838200" y="3146400"/>
            <a:ext cx="4391024" cy="2776098"/>
          </a:xfrm>
        </p:spPr>
        <p:txBody>
          <a:bodyPr>
            <a:normAutofit/>
          </a:bodyPr>
          <a:lstStyle/>
          <a:p>
            <a:pPr marL="0" indent="0">
              <a:buNone/>
            </a:pPr>
            <a:r>
              <a:rPr lang="en-GB" sz="2000" b="0" i="0" dirty="0">
                <a:solidFill>
                  <a:schemeClr val="bg1">
                    <a:alpha val="80000"/>
                  </a:schemeClr>
                </a:solidFill>
                <a:effectLst/>
                <a:latin typeface="__Poppins_3bfef9"/>
              </a:rPr>
              <a:t>PRISMA Flow showing selection of 15 articles</a:t>
            </a:r>
          </a:p>
          <a:p>
            <a:pPr marL="342900" indent="-342900">
              <a:buFont typeface="+mj-lt"/>
              <a:buAutoNum type="arabicPeriod"/>
            </a:pPr>
            <a:r>
              <a:rPr lang="en-GB" sz="2000" dirty="0">
                <a:solidFill>
                  <a:schemeClr val="bg1">
                    <a:alpha val="80000"/>
                  </a:schemeClr>
                </a:solidFill>
              </a:rPr>
              <a:t>Identification: 54 articles with the initial search</a:t>
            </a:r>
          </a:p>
          <a:p>
            <a:pPr marL="342900" indent="-342900">
              <a:buFont typeface="+mj-lt"/>
              <a:buAutoNum type="arabicPeriod"/>
            </a:pPr>
            <a:r>
              <a:rPr lang="en-GB" sz="2000" dirty="0">
                <a:solidFill>
                  <a:schemeClr val="bg1">
                    <a:alpha val="80000"/>
                  </a:schemeClr>
                </a:solidFill>
              </a:rPr>
              <a:t>Screening: 7 articles</a:t>
            </a:r>
          </a:p>
          <a:p>
            <a:pPr marL="342900" indent="-342900">
              <a:buFont typeface="+mj-lt"/>
              <a:buAutoNum type="arabicPeriod"/>
            </a:pPr>
            <a:r>
              <a:rPr lang="en-GB" sz="2000" dirty="0">
                <a:solidFill>
                  <a:schemeClr val="bg1">
                    <a:alpha val="80000"/>
                  </a:schemeClr>
                </a:solidFill>
              </a:rPr>
              <a:t>Eligibility: Included 36 articles</a:t>
            </a:r>
          </a:p>
          <a:p>
            <a:pPr marL="342900" indent="-342900">
              <a:buFont typeface="+mj-lt"/>
              <a:buAutoNum type="arabicPeriod"/>
            </a:pPr>
            <a:r>
              <a:rPr lang="en-GB" sz="2000" dirty="0">
                <a:solidFill>
                  <a:schemeClr val="bg1">
                    <a:alpha val="80000"/>
                  </a:schemeClr>
                </a:solidFill>
              </a:rPr>
              <a:t>Included studies: 15 articles</a:t>
            </a:r>
            <a:endParaRPr lang="en-GB" sz="2000" b="0" i="0" dirty="0">
              <a:solidFill>
                <a:schemeClr val="bg1">
                  <a:alpha val="80000"/>
                </a:schemeClr>
              </a:solidFill>
              <a:effectLst/>
              <a:latin typeface="__Poppins_3bfef9"/>
            </a:endParaRPr>
          </a:p>
        </p:txBody>
      </p:sp>
      <p:grpSp>
        <p:nvGrpSpPr>
          <p:cNvPr id="57" name="Group 56">
            <a:extLst>
              <a:ext uri="{FF2B5EF4-FFF2-40B4-BE49-F238E27FC236}">
                <a16:creationId xmlns:a16="http://schemas.microsoft.com/office/drawing/2014/main" id="{D44E3F87-3D58-4B03-86B2-15A5C5B9C9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96000" y="841376"/>
            <a:ext cx="5260976" cy="4707593"/>
            <a:chOff x="6096000" y="841376"/>
            <a:chExt cx="5260976" cy="4707593"/>
          </a:xfrm>
          <a:effectLst>
            <a:outerShdw blurRad="381000" dist="152400" dir="5400000" algn="ctr" rotWithShape="0">
              <a:srgbClr val="000000">
                <a:alpha val="10000"/>
              </a:srgbClr>
            </a:outerShdw>
          </a:effectLst>
        </p:grpSpPr>
        <p:grpSp>
          <p:nvGrpSpPr>
            <p:cNvPr id="58" name="Group 57">
              <a:extLst>
                <a:ext uri="{FF2B5EF4-FFF2-40B4-BE49-F238E27FC236}">
                  <a16:creationId xmlns:a16="http://schemas.microsoft.com/office/drawing/2014/main" id="{B4D09509-F6FC-47A6-B196-CCCFD8E8305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1" y="841376"/>
              <a:ext cx="5260975" cy="4707593"/>
              <a:chOff x="6096001" y="841376"/>
              <a:chExt cx="5260975" cy="4707593"/>
            </a:xfrm>
          </p:grpSpPr>
          <p:sp>
            <p:nvSpPr>
              <p:cNvPr id="62" name="Freeform: Shape 61">
                <a:extLst>
                  <a:ext uri="{FF2B5EF4-FFF2-40B4-BE49-F238E27FC236}">
                    <a16:creationId xmlns:a16="http://schemas.microsoft.com/office/drawing/2014/main" id="{BA5B9D66-192D-4F12-964D-2B23A1D27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Freeform: Shape 62">
                <a:extLst>
                  <a:ext uri="{FF2B5EF4-FFF2-40B4-BE49-F238E27FC236}">
                    <a16:creationId xmlns:a16="http://schemas.microsoft.com/office/drawing/2014/main" id="{C9C14E68-C469-4A71-AF08-169DB545FC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59" name="Group 58">
              <a:extLst>
                <a:ext uri="{FF2B5EF4-FFF2-40B4-BE49-F238E27FC236}">
                  <a16:creationId xmlns:a16="http://schemas.microsoft.com/office/drawing/2014/main" id="{B2C18990-7F62-45E8-B68F-47E95E4812F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0" y="4138312"/>
              <a:ext cx="5260975" cy="1410656"/>
              <a:chOff x="6096000" y="4138312"/>
              <a:chExt cx="5260975" cy="1410656"/>
            </a:xfrm>
          </p:grpSpPr>
          <p:sp>
            <p:nvSpPr>
              <p:cNvPr id="60" name="Freeform: Shape 59">
                <a:extLst>
                  <a:ext uri="{FF2B5EF4-FFF2-40B4-BE49-F238E27FC236}">
                    <a16:creationId xmlns:a16="http://schemas.microsoft.com/office/drawing/2014/main" id="{AC206BB2-3759-4DF0-9932-7445B6367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 name="Freeform: Shape 60">
                <a:extLst>
                  <a:ext uri="{FF2B5EF4-FFF2-40B4-BE49-F238E27FC236}">
                    <a16:creationId xmlns:a16="http://schemas.microsoft.com/office/drawing/2014/main" id="{381FA6FA-3CB6-4F57-8871-82DDE5BE86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pic>
        <p:nvPicPr>
          <p:cNvPr id="7" name="Picture 6" descr="A diagram of records screening&#10;&#10;Description automatically generated">
            <a:extLst>
              <a:ext uri="{FF2B5EF4-FFF2-40B4-BE49-F238E27FC236}">
                <a16:creationId xmlns:a16="http://schemas.microsoft.com/office/drawing/2014/main" id="{DE9E4874-0315-2AEE-3676-736AE9596F45}"/>
              </a:ext>
            </a:extLst>
          </p:cNvPr>
          <p:cNvPicPr>
            <a:picLocks noChangeAspect="1"/>
          </p:cNvPicPr>
          <p:nvPr/>
        </p:nvPicPr>
        <p:blipFill>
          <a:blip r:embed="rId4"/>
          <a:stretch>
            <a:fillRect/>
          </a:stretch>
        </p:blipFill>
        <p:spPr>
          <a:xfrm>
            <a:off x="6541932" y="1500775"/>
            <a:ext cx="4369112" cy="2763462"/>
          </a:xfrm>
          <a:prstGeom prst="rect">
            <a:avLst/>
          </a:prstGeom>
        </p:spPr>
      </p:pic>
    </p:spTree>
    <p:extLst>
      <p:ext uri="{BB962C8B-B14F-4D97-AF65-F5344CB8AC3E}">
        <p14:creationId xmlns:p14="http://schemas.microsoft.com/office/powerpoint/2010/main" val="1021492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Reading a book and drinking coffee on the table">
            <a:extLst>
              <a:ext uri="{FF2B5EF4-FFF2-40B4-BE49-F238E27FC236}">
                <a16:creationId xmlns:a16="http://schemas.microsoft.com/office/drawing/2014/main" id="{E9AEE2F7-84C1-F6ED-D80F-81B2BABD7C10}"/>
              </a:ext>
            </a:extLst>
          </p:cNvPr>
          <p:cNvPicPr>
            <a:picLocks noChangeAspect="1"/>
          </p:cNvPicPr>
          <p:nvPr/>
        </p:nvPicPr>
        <p:blipFill rotWithShape="1">
          <a:blip r:embed="rId2">
            <a:alphaModFix amt="50000"/>
          </a:blip>
          <a:srcRect t="8594" b="7136"/>
          <a:stretch/>
        </p:blipFill>
        <p:spPr>
          <a:xfrm>
            <a:off x="20" y="1"/>
            <a:ext cx="12191980" cy="6857999"/>
          </a:xfrm>
          <a:prstGeom prst="rect">
            <a:avLst/>
          </a:prstGeom>
        </p:spPr>
      </p:pic>
      <p:sp>
        <p:nvSpPr>
          <p:cNvPr id="2" name="Title 1">
            <a:extLst>
              <a:ext uri="{FF2B5EF4-FFF2-40B4-BE49-F238E27FC236}">
                <a16:creationId xmlns:a16="http://schemas.microsoft.com/office/drawing/2014/main" id="{EF334CA8-A257-6E86-5BC8-78C7CBD52DE9}"/>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6000" b="1" i="0" dirty="0">
                <a:solidFill>
                  <a:srgbClr val="FFFFFF"/>
                </a:solidFill>
                <a:effectLst/>
              </a:rPr>
              <a:t>Journey through literature review</a:t>
            </a:r>
            <a:endParaRPr lang="en-US" sz="6000" b="1" dirty="0">
              <a:solidFill>
                <a:srgbClr val="FFFFFF"/>
              </a:solidFill>
            </a:endParaRPr>
          </a:p>
        </p:txBody>
      </p:sp>
    </p:spTree>
    <p:extLst>
      <p:ext uri="{BB962C8B-B14F-4D97-AF65-F5344CB8AC3E}">
        <p14:creationId xmlns:p14="http://schemas.microsoft.com/office/powerpoint/2010/main" val="222976239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15" name="Rectangle 4114">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117" name="Group 4116">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4118" name="Freeform: Shape 4117">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9" name="Rectangle 4118">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21" name="Rectangle 4120">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3" name="Isosceles Triangle 4122">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10" name="Rectangle 4109">
            <a:extLst>
              <a:ext uri="{FF2B5EF4-FFF2-40B4-BE49-F238E27FC236}">
                <a16:creationId xmlns:a16="http://schemas.microsoft.com/office/drawing/2014/main" id="{8761DDFE-071F-4200-B0AA-394476C2D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0022" y="677512"/>
            <a:ext cx="9831956" cy="55318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Frontiers | The Effects of Spatial Planning, Well-Being, and Behavioural  Changes During and After the COVID-19 Pandemic">
            <a:extLst>
              <a:ext uri="{FF2B5EF4-FFF2-40B4-BE49-F238E27FC236}">
                <a16:creationId xmlns:a16="http://schemas.microsoft.com/office/drawing/2014/main" id="{92B89C2C-8749-28BB-0436-AAEA9EA53E4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86266" y="643467"/>
            <a:ext cx="6612473" cy="310919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CA071F8-CFCF-2C71-7660-69887F7F189E}"/>
              </a:ext>
            </a:extLst>
          </p:cNvPr>
          <p:cNvSpPr txBox="1"/>
          <p:nvPr/>
        </p:nvSpPr>
        <p:spPr>
          <a:xfrm flipH="1">
            <a:off x="1216901" y="3219330"/>
            <a:ext cx="516308" cy="313932"/>
          </a:xfrm>
          <a:prstGeom prst="rect">
            <a:avLst/>
          </a:prstGeom>
          <a:noFill/>
        </p:spPr>
        <p:txBody>
          <a:bodyPr wrap="square" rtlCol="0">
            <a:spAutoFit/>
          </a:bodyPr>
          <a:lstStyle/>
          <a:p>
            <a:pPr defTabSz="731520">
              <a:spcAft>
                <a:spcPts val="600"/>
              </a:spcAft>
            </a:pPr>
            <a:r>
              <a:rPr lang="en-GB" sz="1440" kern="1200">
                <a:solidFill>
                  <a:schemeClr val="tx1"/>
                </a:solidFill>
                <a:latin typeface="+mn-lt"/>
                <a:ea typeface="+mn-ea"/>
                <a:cs typeface="+mn-cs"/>
              </a:rPr>
              <a:t>[39]</a:t>
            </a:r>
            <a:endParaRPr lang="en-GB"/>
          </a:p>
        </p:txBody>
      </p:sp>
      <p:sp>
        <p:nvSpPr>
          <p:cNvPr id="5" name="TextBox 4">
            <a:extLst>
              <a:ext uri="{FF2B5EF4-FFF2-40B4-BE49-F238E27FC236}">
                <a16:creationId xmlns:a16="http://schemas.microsoft.com/office/drawing/2014/main" id="{25660493-610F-7585-F818-D940A81ADFBC}"/>
              </a:ext>
            </a:extLst>
          </p:cNvPr>
          <p:cNvSpPr txBox="1"/>
          <p:nvPr/>
        </p:nvSpPr>
        <p:spPr>
          <a:xfrm>
            <a:off x="10008306" y="3525707"/>
            <a:ext cx="955969" cy="313932"/>
          </a:xfrm>
          <a:prstGeom prst="rect">
            <a:avLst/>
          </a:prstGeom>
          <a:noFill/>
        </p:spPr>
        <p:txBody>
          <a:bodyPr wrap="square" rtlCol="0">
            <a:spAutoFit/>
          </a:bodyPr>
          <a:lstStyle/>
          <a:p>
            <a:pPr defTabSz="731520">
              <a:spcAft>
                <a:spcPts val="600"/>
              </a:spcAft>
            </a:pPr>
            <a:r>
              <a:rPr lang="en-GB" sz="1440" kern="1200">
                <a:solidFill>
                  <a:schemeClr val="tx1"/>
                </a:solidFill>
                <a:latin typeface="+mn-lt"/>
                <a:ea typeface="+mn-ea"/>
                <a:cs typeface="+mn-cs"/>
              </a:rPr>
              <a:t>[42]</a:t>
            </a:r>
            <a:endParaRPr lang="en-GB"/>
          </a:p>
        </p:txBody>
      </p:sp>
      <p:pic>
        <p:nvPicPr>
          <p:cNvPr id="4100" name="Picture 4" descr="Frontiers | Data-driven integrated care pathways: Standardization of  delivering patient-centered care">
            <a:extLst>
              <a:ext uri="{FF2B5EF4-FFF2-40B4-BE49-F238E27FC236}">
                <a16:creationId xmlns:a16="http://schemas.microsoft.com/office/drawing/2014/main" id="{59CDF648-D060-DFFF-A6B6-F44BFE8A5ED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413406" y="3786703"/>
            <a:ext cx="5581217" cy="242782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77ABE5C-FCD0-C4BB-D05F-68FF3BDE0F93}"/>
              </a:ext>
            </a:extLst>
          </p:cNvPr>
          <p:cNvSpPr txBox="1"/>
          <p:nvPr/>
        </p:nvSpPr>
        <p:spPr>
          <a:xfrm>
            <a:off x="7897685" y="641290"/>
            <a:ext cx="3066591" cy="1938992"/>
          </a:xfrm>
          <a:prstGeom prst="rect">
            <a:avLst/>
          </a:prstGeom>
          <a:noFill/>
        </p:spPr>
        <p:txBody>
          <a:bodyPr wrap="square" rtlCol="0">
            <a:spAutoFit/>
          </a:bodyPr>
          <a:lstStyle/>
          <a:p>
            <a:pPr defTabSz="731520">
              <a:spcAft>
                <a:spcPts val="600"/>
              </a:spcAft>
            </a:pPr>
            <a:r>
              <a:rPr lang="en-GB" sz="2000" kern="1200" dirty="0">
                <a:solidFill>
                  <a:schemeClr val="tx1"/>
                </a:solidFill>
                <a:latin typeface="+mn-lt"/>
                <a:ea typeface="+mn-ea"/>
                <a:cs typeface="+mn-cs"/>
              </a:rPr>
              <a:t>Improved health outcomes arise from early intervention, illness prevention, and prompt treatment facilitated by this approach. [11]</a:t>
            </a:r>
          </a:p>
        </p:txBody>
      </p:sp>
    </p:spTree>
    <p:extLst>
      <p:ext uri="{BB962C8B-B14F-4D97-AF65-F5344CB8AC3E}">
        <p14:creationId xmlns:p14="http://schemas.microsoft.com/office/powerpoint/2010/main" val="2563354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91" name="Rectangle 3090">
            <a:extLst>
              <a:ext uri="{FF2B5EF4-FFF2-40B4-BE49-F238E27FC236}">
                <a16:creationId xmlns:a16="http://schemas.microsoft.com/office/drawing/2014/main" id="{04695F26-39DB-450E-B464-9C76CD233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3" name="Rectangle 3092">
            <a:extLst>
              <a:ext uri="{FF2B5EF4-FFF2-40B4-BE49-F238E27FC236}">
                <a16:creationId xmlns:a16="http://schemas.microsoft.com/office/drawing/2014/main" id="{2F42E55F-A297-474F-AF2D-6D3A15822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11" y="-1"/>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95" name="Group 3094">
            <a:extLst>
              <a:ext uri="{FF2B5EF4-FFF2-40B4-BE49-F238E27FC236}">
                <a16:creationId xmlns:a16="http://schemas.microsoft.com/office/drawing/2014/main" id="{972070F7-E065-4D60-8938-9FB8CDB8AC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flipH="1">
            <a:off x="-179919" y="170310"/>
            <a:ext cx="2514948" cy="2174333"/>
            <a:chOff x="-305" y="-4155"/>
            <a:chExt cx="2514948" cy="2174333"/>
          </a:xfrm>
        </p:grpSpPr>
        <p:sp>
          <p:nvSpPr>
            <p:cNvPr id="3096" name="Freeform: Shape 3095">
              <a:extLst>
                <a:ext uri="{FF2B5EF4-FFF2-40B4-BE49-F238E27FC236}">
                  <a16:creationId xmlns:a16="http://schemas.microsoft.com/office/drawing/2014/main" id="{4F672C03-E63A-4F6B-96BD-0C4E3F1B82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7" name="Freeform: Shape 3096">
              <a:extLst>
                <a:ext uri="{FF2B5EF4-FFF2-40B4-BE49-F238E27FC236}">
                  <a16:creationId xmlns:a16="http://schemas.microsoft.com/office/drawing/2014/main" id="{9BB94CDF-5C33-4B0A-B53F-50762639C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8" name="Freeform: Shape 3097">
              <a:extLst>
                <a:ext uri="{FF2B5EF4-FFF2-40B4-BE49-F238E27FC236}">
                  <a16:creationId xmlns:a16="http://schemas.microsoft.com/office/drawing/2014/main" id="{D3C92F9D-544D-4691-94A7-B937CF4BE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099" name="Freeform: Shape 3098">
              <a:extLst>
                <a:ext uri="{FF2B5EF4-FFF2-40B4-BE49-F238E27FC236}">
                  <a16:creationId xmlns:a16="http://schemas.microsoft.com/office/drawing/2014/main" id="{DCA4DEE4-B7B4-47F4-A9C5-31AED8369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074" name="Picture 2" descr="Advancing a Conceptual Model of Evidence-Based Practice Implementation in Public  Service Sectors | SpringerLink">
            <a:extLst>
              <a:ext uri="{FF2B5EF4-FFF2-40B4-BE49-F238E27FC236}">
                <a16:creationId xmlns:a16="http://schemas.microsoft.com/office/drawing/2014/main" id="{7CF10E79-8B6B-D146-9D2B-0E27831A1DF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022" y="2458685"/>
            <a:ext cx="7190772" cy="433243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F17F43C-F8D8-4C41-104B-248050E7CE8C}"/>
              </a:ext>
            </a:extLst>
          </p:cNvPr>
          <p:cNvSpPr txBox="1"/>
          <p:nvPr/>
        </p:nvSpPr>
        <p:spPr>
          <a:xfrm>
            <a:off x="3119750" y="6318528"/>
            <a:ext cx="914400" cy="369332"/>
          </a:xfrm>
          <a:prstGeom prst="rect">
            <a:avLst/>
          </a:prstGeom>
          <a:noFill/>
        </p:spPr>
        <p:txBody>
          <a:bodyPr wrap="square" rtlCol="0">
            <a:spAutoFit/>
          </a:bodyPr>
          <a:lstStyle/>
          <a:p>
            <a:r>
              <a:rPr lang="en-GB" dirty="0"/>
              <a:t>[38]</a:t>
            </a:r>
          </a:p>
        </p:txBody>
      </p:sp>
      <p:pic>
        <p:nvPicPr>
          <p:cNvPr id="3076" name="Picture 4" descr="Challenges and opportunities for educating health professionals after the  COVID-19 pandemic - The Lancet">
            <a:extLst>
              <a:ext uri="{FF2B5EF4-FFF2-40B4-BE49-F238E27FC236}">
                <a16:creationId xmlns:a16="http://schemas.microsoft.com/office/drawing/2014/main" id="{621A8B2E-9CDB-7A79-69A7-151F4F505D4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021854" y="31065"/>
            <a:ext cx="5167780" cy="350117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56EAC9B-71EA-3AD7-97D0-E083EC57AFD4}"/>
              </a:ext>
            </a:extLst>
          </p:cNvPr>
          <p:cNvSpPr txBox="1"/>
          <p:nvPr/>
        </p:nvSpPr>
        <p:spPr>
          <a:xfrm>
            <a:off x="7849772" y="4628271"/>
            <a:ext cx="4332312" cy="1323439"/>
          </a:xfrm>
          <a:prstGeom prst="rect">
            <a:avLst/>
          </a:prstGeom>
          <a:noFill/>
        </p:spPr>
        <p:txBody>
          <a:bodyPr wrap="square" rtlCol="0">
            <a:spAutoFit/>
          </a:bodyPr>
          <a:lstStyle/>
          <a:p>
            <a:r>
              <a:rPr lang="en-GB" sz="2000" dirty="0"/>
              <a:t>Social connections are fostered, creating a sense of community and reducing social isolation within these populations. [14]</a:t>
            </a:r>
          </a:p>
        </p:txBody>
      </p:sp>
      <p:sp>
        <p:nvSpPr>
          <p:cNvPr id="4" name="TextBox 3">
            <a:extLst>
              <a:ext uri="{FF2B5EF4-FFF2-40B4-BE49-F238E27FC236}">
                <a16:creationId xmlns:a16="http://schemas.microsoft.com/office/drawing/2014/main" id="{3BE3C356-407A-9DB9-C383-F06D860C89CF}"/>
              </a:ext>
            </a:extLst>
          </p:cNvPr>
          <p:cNvSpPr txBox="1"/>
          <p:nvPr/>
        </p:nvSpPr>
        <p:spPr>
          <a:xfrm>
            <a:off x="9193061" y="3176153"/>
            <a:ext cx="1719394" cy="369332"/>
          </a:xfrm>
          <a:prstGeom prst="rect">
            <a:avLst/>
          </a:prstGeom>
          <a:noFill/>
        </p:spPr>
        <p:txBody>
          <a:bodyPr wrap="square" rtlCol="0">
            <a:spAutoFit/>
          </a:bodyPr>
          <a:lstStyle/>
          <a:p>
            <a:r>
              <a:rPr lang="en-GB" dirty="0"/>
              <a:t>[32]</a:t>
            </a:r>
          </a:p>
        </p:txBody>
      </p:sp>
    </p:spTree>
    <p:extLst>
      <p:ext uri="{BB962C8B-B14F-4D97-AF65-F5344CB8AC3E}">
        <p14:creationId xmlns:p14="http://schemas.microsoft.com/office/powerpoint/2010/main" val="3573232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37" name="Rectangle 5136">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139" name="Group 5138">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5140" name="Freeform: Shape 5139">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1" name="Rectangle 5140">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43" name="Rectangle 5142">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5" name="Isosceles Triangle 5144">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132" name="Rectangle 5131">
            <a:extLst>
              <a:ext uri="{FF2B5EF4-FFF2-40B4-BE49-F238E27FC236}">
                <a16:creationId xmlns:a16="http://schemas.microsoft.com/office/drawing/2014/main" id="{84DF55BE-B4AB-4BA1-BDE1-E9F7FB3F1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5181" y="643467"/>
            <a:ext cx="9901639" cy="55710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4" name="Picture 4">
            <a:extLst>
              <a:ext uri="{FF2B5EF4-FFF2-40B4-BE49-F238E27FC236}">
                <a16:creationId xmlns:a16="http://schemas.microsoft.com/office/drawing/2014/main" id="{656E2EF7-4510-1041-1E41-5FF4FA83568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242609" y="1514915"/>
            <a:ext cx="5799561" cy="3262254"/>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New care models - what's the evidence | The Strategy Unit">
            <a:extLst>
              <a:ext uri="{FF2B5EF4-FFF2-40B4-BE49-F238E27FC236}">
                <a16:creationId xmlns:a16="http://schemas.microsoft.com/office/drawing/2014/main" id="{D5AA241F-D80B-14A1-72B0-E3D54E4C60E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45180" y="657462"/>
            <a:ext cx="4097429" cy="413871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5D44079-330A-1CB2-94D7-D3C92A3ADF05}"/>
              </a:ext>
            </a:extLst>
          </p:cNvPr>
          <p:cNvSpPr txBox="1"/>
          <p:nvPr/>
        </p:nvSpPr>
        <p:spPr>
          <a:xfrm>
            <a:off x="2786547" y="4689657"/>
            <a:ext cx="674918" cy="316690"/>
          </a:xfrm>
          <a:prstGeom prst="rect">
            <a:avLst/>
          </a:prstGeom>
          <a:noFill/>
        </p:spPr>
        <p:txBody>
          <a:bodyPr wrap="square" rtlCol="0">
            <a:spAutoFit/>
          </a:bodyPr>
          <a:lstStyle/>
          <a:p>
            <a:pPr defTabSz="740664">
              <a:spcAft>
                <a:spcPts val="600"/>
              </a:spcAft>
            </a:pPr>
            <a:r>
              <a:rPr lang="en-GB" sz="1458" kern="1200">
                <a:solidFill>
                  <a:schemeClr val="tx1"/>
                </a:solidFill>
                <a:latin typeface="+mn-lt"/>
                <a:ea typeface="+mn-ea"/>
                <a:cs typeface="+mn-cs"/>
              </a:rPr>
              <a:t>[52]</a:t>
            </a:r>
            <a:endParaRPr lang="en-GB"/>
          </a:p>
        </p:txBody>
      </p:sp>
      <p:sp>
        <p:nvSpPr>
          <p:cNvPr id="5" name="TextBox 4">
            <a:extLst>
              <a:ext uri="{FF2B5EF4-FFF2-40B4-BE49-F238E27FC236}">
                <a16:creationId xmlns:a16="http://schemas.microsoft.com/office/drawing/2014/main" id="{9C77A0B7-2FAA-0A18-CFA4-FB9ABCB66C97}"/>
              </a:ext>
            </a:extLst>
          </p:cNvPr>
          <p:cNvSpPr txBox="1"/>
          <p:nvPr/>
        </p:nvSpPr>
        <p:spPr>
          <a:xfrm>
            <a:off x="8321672" y="4650207"/>
            <a:ext cx="778751" cy="316690"/>
          </a:xfrm>
          <a:prstGeom prst="rect">
            <a:avLst/>
          </a:prstGeom>
          <a:noFill/>
        </p:spPr>
        <p:txBody>
          <a:bodyPr wrap="square" rtlCol="0">
            <a:spAutoFit/>
          </a:bodyPr>
          <a:lstStyle/>
          <a:p>
            <a:pPr defTabSz="740664">
              <a:spcAft>
                <a:spcPts val="600"/>
              </a:spcAft>
            </a:pPr>
            <a:r>
              <a:rPr lang="en-GB" sz="1458" kern="1200">
                <a:solidFill>
                  <a:schemeClr val="tx1"/>
                </a:solidFill>
                <a:latin typeface="+mn-lt"/>
                <a:ea typeface="+mn-ea"/>
                <a:cs typeface="+mn-cs"/>
              </a:rPr>
              <a:t>[44, 45]</a:t>
            </a:r>
            <a:endParaRPr lang="en-GB"/>
          </a:p>
        </p:txBody>
      </p:sp>
      <p:sp>
        <p:nvSpPr>
          <p:cNvPr id="2" name="TextBox 1">
            <a:extLst>
              <a:ext uri="{FF2B5EF4-FFF2-40B4-BE49-F238E27FC236}">
                <a16:creationId xmlns:a16="http://schemas.microsoft.com/office/drawing/2014/main" id="{50EA8E14-F71D-EFF1-8FE9-959C7D86C60B}"/>
              </a:ext>
            </a:extLst>
          </p:cNvPr>
          <p:cNvSpPr txBox="1"/>
          <p:nvPr/>
        </p:nvSpPr>
        <p:spPr>
          <a:xfrm>
            <a:off x="2093691" y="5151848"/>
            <a:ext cx="8308030" cy="1015663"/>
          </a:xfrm>
          <a:prstGeom prst="rect">
            <a:avLst/>
          </a:prstGeom>
          <a:noFill/>
        </p:spPr>
        <p:txBody>
          <a:bodyPr wrap="square" rtlCol="0">
            <a:spAutoFit/>
          </a:bodyPr>
          <a:lstStyle/>
          <a:p>
            <a:pPr defTabSz="740664">
              <a:spcAft>
                <a:spcPts val="600"/>
              </a:spcAft>
            </a:pPr>
            <a:r>
              <a:rPr lang="en-GB" sz="2000" kern="1200" dirty="0">
                <a:solidFill>
                  <a:schemeClr val="tx1"/>
                </a:solidFill>
                <a:latin typeface="+mn-lt"/>
                <a:ea typeface="+mn-ea"/>
                <a:cs typeface="+mn-cs"/>
              </a:rPr>
              <a:t>The neighborhood-based primary healthcare strategy, including community health centres (CHCs), enhances healthcare access for marginalized communities by ensuring geographical proximity to populations. [1]</a:t>
            </a:r>
          </a:p>
        </p:txBody>
      </p:sp>
    </p:spTree>
    <p:extLst>
      <p:ext uri="{BB962C8B-B14F-4D97-AF65-F5344CB8AC3E}">
        <p14:creationId xmlns:p14="http://schemas.microsoft.com/office/powerpoint/2010/main" val="1672696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73" name="Rectangle 2072">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75" name="Freeform: Shape 2074">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77" name="Freeform: Shape 2076">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9" name="Rectangle 2078">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81" name="Rectangle 2080">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37B9C64-043D-71D8-E755-280D43BA46DB}"/>
              </a:ext>
            </a:extLst>
          </p:cNvPr>
          <p:cNvSpPr>
            <a:spLocks noGrp="1"/>
          </p:cNvSpPr>
          <p:nvPr>
            <p:ph idx="1"/>
          </p:nvPr>
        </p:nvSpPr>
        <p:spPr>
          <a:xfrm>
            <a:off x="186829" y="3215717"/>
            <a:ext cx="2051070" cy="423317"/>
          </a:xfrm>
        </p:spPr>
        <p:txBody>
          <a:bodyPr>
            <a:normAutofit/>
          </a:bodyPr>
          <a:lstStyle/>
          <a:p>
            <a:pPr marL="0" indent="0">
              <a:buNone/>
            </a:pPr>
            <a:r>
              <a:rPr lang="en-GB" sz="1800" dirty="0"/>
              <a:t>[27, 54]</a:t>
            </a:r>
          </a:p>
        </p:txBody>
      </p:sp>
      <p:pic>
        <p:nvPicPr>
          <p:cNvPr id="2052" name="Picture 4" descr="Supporting the Government of Delhi to improve primary healthcare via the mohalla  clinic programme | IDinsight">
            <a:extLst>
              <a:ext uri="{FF2B5EF4-FFF2-40B4-BE49-F238E27FC236}">
                <a16:creationId xmlns:a16="http://schemas.microsoft.com/office/drawing/2014/main" id="{5C29167F-2248-30F6-A57C-0B1910CEFB7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551471" y="-1"/>
            <a:ext cx="9654598" cy="479322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5B7627C-6A92-6F4B-3CB7-3FD9A02E5907}"/>
              </a:ext>
            </a:extLst>
          </p:cNvPr>
          <p:cNvSpPr txBox="1"/>
          <p:nvPr/>
        </p:nvSpPr>
        <p:spPr>
          <a:xfrm>
            <a:off x="8891452" y="4759737"/>
            <a:ext cx="3010486" cy="369332"/>
          </a:xfrm>
          <a:prstGeom prst="rect">
            <a:avLst/>
          </a:prstGeom>
          <a:noFill/>
        </p:spPr>
        <p:txBody>
          <a:bodyPr wrap="square" rtlCol="0">
            <a:spAutoFit/>
          </a:bodyPr>
          <a:lstStyle/>
          <a:p>
            <a:r>
              <a:rPr lang="en-GB" dirty="0"/>
              <a:t>[29]</a:t>
            </a:r>
          </a:p>
        </p:txBody>
      </p:sp>
      <p:pic>
        <p:nvPicPr>
          <p:cNvPr id="2050" name="Picture 2" descr="Assessing the Effect of Mohalla Clinics on Healthcare System in Delhi:  Evidence from a Primary Study in West District - Yamini, Naresh Bodkhe, 2022">
            <a:extLst>
              <a:ext uri="{FF2B5EF4-FFF2-40B4-BE49-F238E27FC236}">
                <a16:creationId xmlns:a16="http://schemas.microsoft.com/office/drawing/2014/main" id="{4266BFA3-899B-F54E-027F-9C1D17069C3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3536767"/>
            <a:ext cx="5422392" cy="332123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7D16066-C49B-6DE4-1404-96854921294A}"/>
              </a:ext>
            </a:extLst>
          </p:cNvPr>
          <p:cNvSpPr txBox="1"/>
          <p:nvPr/>
        </p:nvSpPr>
        <p:spPr>
          <a:xfrm>
            <a:off x="6096000" y="5387926"/>
            <a:ext cx="5805938" cy="1015663"/>
          </a:xfrm>
          <a:prstGeom prst="rect">
            <a:avLst/>
          </a:prstGeom>
          <a:noFill/>
        </p:spPr>
        <p:txBody>
          <a:bodyPr wrap="square" rtlCol="0">
            <a:spAutoFit/>
          </a:bodyPr>
          <a:lstStyle/>
          <a:p>
            <a:r>
              <a:rPr lang="en-GB" sz="2000" dirty="0"/>
              <a:t>The Mohalla Clinic initiative, initiated in 2015, aims to provide accessible and affordable healthcare services to urban underprivileged individuals. [27]</a:t>
            </a:r>
          </a:p>
        </p:txBody>
      </p:sp>
    </p:spTree>
    <p:extLst>
      <p:ext uri="{BB962C8B-B14F-4D97-AF65-F5344CB8AC3E}">
        <p14:creationId xmlns:p14="http://schemas.microsoft.com/office/powerpoint/2010/main" val="3338821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row of samples for medical testing">
            <a:extLst>
              <a:ext uri="{FF2B5EF4-FFF2-40B4-BE49-F238E27FC236}">
                <a16:creationId xmlns:a16="http://schemas.microsoft.com/office/drawing/2014/main" id="{F6F97160-E1EB-EC82-DEFE-6FD04D2D5DEC}"/>
              </a:ext>
            </a:extLst>
          </p:cNvPr>
          <p:cNvPicPr>
            <a:picLocks noChangeAspect="1"/>
          </p:cNvPicPr>
          <p:nvPr/>
        </p:nvPicPr>
        <p:blipFill rotWithShape="1">
          <a:blip r:embed="rId2"/>
          <a:srcRect l="40833"/>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F856C08-12E0-CCB0-7171-191D4314908D}"/>
              </a:ext>
            </a:extLst>
          </p:cNvPr>
          <p:cNvSpPr>
            <a:spLocks noGrp="1"/>
          </p:cNvSpPr>
          <p:nvPr>
            <p:ph idx="1"/>
          </p:nvPr>
        </p:nvSpPr>
        <p:spPr>
          <a:xfrm>
            <a:off x="6096000" y="1800664"/>
            <a:ext cx="5247340" cy="3496878"/>
          </a:xfrm>
        </p:spPr>
        <p:txBody>
          <a:bodyPr anchor="ctr">
            <a:normAutofit/>
          </a:bodyPr>
          <a:lstStyle/>
          <a:p>
            <a:pPr marL="0" indent="0">
              <a:buNone/>
            </a:pPr>
            <a:r>
              <a:rPr lang="en-GB" sz="2000" b="0" i="0" dirty="0">
                <a:effectLst/>
              </a:rPr>
              <a:t>Creating effective and sustainable health systems demands prioritizing comprehensive primary healthcare and public health disciplines and integrating them into national health policies and education to achieve efficient, equitable, and affordable healthcare for all. [</a:t>
            </a:r>
            <a:r>
              <a:rPr lang="en-GB" sz="2000" dirty="0"/>
              <a:t>52, 54]</a:t>
            </a:r>
          </a:p>
        </p:txBody>
      </p:sp>
    </p:spTree>
    <p:extLst>
      <p:ext uri="{BB962C8B-B14F-4D97-AF65-F5344CB8AC3E}">
        <p14:creationId xmlns:p14="http://schemas.microsoft.com/office/powerpoint/2010/main" val="1727886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67878-A9AA-96EB-2F90-1251C4545A6B}"/>
              </a:ext>
            </a:extLst>
          </p:cNvPr>
          <p:cNvSpPr>
            <a:spLocks noGrp="1"/>
          </p:cNvSpPr>
          <p:nvPr>
            <p:ph type="title"/>
          </p:nvPr>
        </p:nvSpPr>
        <p:spPr>
          <a:xfrm>
            <a:off x="762000" y="1138036"/>
            <a:ext cx="4085665" cy="1402470"/>
          </a:xfrm>
        </p:spPr>
        <p:txBody>
          <a:bodyPr anchor="t">
            <a:normAutofit/>
          </a:bodyPr>
          <a:lstStyle/>
          <a:p>
            <a:r>
              <a:rPr lang="en-GB" sz="4000" b="1" i="0" dirty="0">
                <a:effectLst/>
                <a:latin typeface="+mn-lt"/>
              </a:rPr>
              <a:t>Case Studies</a:t>
            </a:r>
            <a:endParaRPr lang="en-GB" sz="4000" b="1" dirty="0">
              <a:latin typeface="+mn-lt"/>
            </a:endParaRPr>
          </a:p>
        </p:txBody>
      </p:sp>
      <p:cxnSp>
        <p:nvCxnSpPr>
          <p:cNvPr id="1038" name="Straight Connector 1037">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323A087-477F-23CC-3EA9-12D4140FA19A}"/>
              </a:ext>
            </a:extLst>
          </p:cNvPr>
          <p:cNvSpPr>
            <a:spLocks noGrp="1"/>
          </p:cNvSpPr>
          <p:nvPr>
            <p:ph idx="1"/>
          </p:nvPr>
        </p:nvSpPr>
        <p:spPr>
          <a:xfrm>
            <a:off x="762000" y="2551176"/>
            <a:ext cx="4085665" cy="3591207"/>
          </a:xfrm>
        </p:spPr>
        <p:txBody>
          <a:bodyPr>
            <a:normAutofit/>
          </a:bodyPr>
          <a:lstStyle/>
          <a:p>
            <a:pPr marL="0" indent="0">
              <a:buNone/>
            </a:pPr>
            <a:r>
              <a:rPr lang="en-GB" sz="2000" b="0" i="0" dirty="0">
                <a:effectLst/>
              </a:rPr>
              <a:t>The Mohalla Clinic initiative, started in 2015 for urban underprivileged.</a:t>
            </a:r>
          </a:p>
          <a:p>
            <a:pPr>
              <a:buFont typeface="Arial" panose="020B0604020202020204" pitchFamily="34" charset="0"/>
              <a:buChar char="•"/>
            </a:pPr>
            <a:r>
              <a:rPr lang="en-GB" sz="2000" b="0" i="0" dirty="0">
                <a:effectLst/>
              </a:rPr>
              <a:t>Improved Healthcare Access</a:t>
            </a:r>
          </a:p>
          <a:p>
            <a:pPr>
              <a:buFont typeface="Arial" panose="020B0604020202020204" pitchFamily="34" charset="0"/>
              <a:buChar char="•"/>
            </a:pPr>
            <a:r>
              <a:rPr lang="en-GB" sz="2000" b="0" i="0" dirty="0">
                <a:effectLst/>
              </a:rPr>
              <a:t>Reduced Barriers to Care</a:t>
            </a:r>
          </a:p>
          <a:p>
            <a:pPr>
              <a:buFont typeface="Arial" panose="020B0604020202020204" pitchFamily="34" charset="0"/>
              <a:buChar char="•"/>
            </a:pPr>
            <a:r>
              <a:rPr lang="en-GB" sz="2000" b="0" i="0" dirty="0">
                <a:effectLst/>
              </a:rPr>
              <a:t>Strong Doctor-Patient Bond</a:t>
            </a:r>
          </a:p>
          <a:p>
            <a:pPr>
              <a:buFont typeface="Arial" panose="020B0604020202020204" pitchFamily="34" charset="0"/>
              <a:buChar char="•"/>
            </a:pPr>
            <a:r>
              <a:rPr lang="en-GB" sz="2000" b="0" i="0" dirty="0">
                <a:effectLst/>
              </a:rPr>
              <a:t>Culturally Relevant Care</a:t>
            </a:r>
          </a:p>
          <a:p>
            <a:pPr>
              <a:buFont typeface="Arial" panose="020B0604020202020204" pitchFamily="34" charset="0"/>
              <a:buChar char="•"/>
            </a:pPr>
            <a:r>
              <a:rPr lang="en-GB" sz="2000" b="0" i="0" dirty="0">
                <a:effectLst/>
              </a:rPr>
              <a:t>Affordable Healthcare</a:t>
            </a:r>
          </a:p>
        </p:txBody>
      </p:sp>
      <p:pic>
        <p:nvPicPr>
          <p:cNvPr id="1026" name="Picture 2" descr="Built to last: Crafting new uses from discarded containers | FuturArc">
            <a:extLst>
              <a:ext uri="{FF2B5EF4-FFF2-40B4-BE49-F238E27FC236}">
                <a16:creationId xmlns:a16="http://schemas.microsoft.com/office/drawing/2014/main" id="{4AA10E35-2CCC-1FE0-1ACD-A56C32F6D45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627" r="9707" b="-1"/>
          <a:stretch/>
        </p:blipFill>
        <p:spPr bwMode="auto">
          <a:xfrm>
            <a:off x="5650992" y="10"/>
            <a:ext cx="6541008"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5713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EFF7B1-6CB7-47D1-AD37-B870CA2B21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FA2962B-21B6-4689-A95D-A8FF6ADE4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745280D-ED36-41FE-8EB1-CE597C99CF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17348" y="774914"/>
            <a:ext cx="304800" cy="429768"/>
            <a:chOff x="215328" y="-46937"/>
            <a:chExt cx="304800" cy="2773841"/>
          </a:xfrm>
        </p:grpSpPr>
        <p:cxnSp>
          <p:nvCxnSpPr>
            <p:cNvPr id="14" name="Straight Connector 13">
              <a:extLst>
                <a:ext uri="{FF2B5EF4-FFF2-40B4-BE49-F238E27FC236}">
                  <a16:creationId xmlns:a16="http://schemas.microsoft.com/office/drawing/2014/main" id="{3D26CEB3-5AE4-4088-AD63-396DB50F28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AA9279A-AD34-474C-834E-6BF658144A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3589559-7D9A-4ECD-90BB-A5565E2DAE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01B1A71-DCEA-4EB2-8133-98A2CD6F09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80E95A5C-1E97-41C3-9DEC-245FF6DEBF1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0" name="Oval 19">
              <a:extLst>
                <a:ext uri="{FF2B5EF4-FFF2-40B4-BE49-F238E27FC236}">
                  <a16:creationId xmlns:a16="http://schemas.microsoft.com/office/drawing/2014/main" id="{8D3C3374-C720-4FCD-B6CD-AEF1D1A6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7639E2EF-4D23-4EA3-B29E-D6362FF72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30820A4-6CEA-4BF7-8DE4-F5B2D2EB23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320E002-8AED-4D4F-A104-0585FFFB9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6A0BF3F3-3A09-42CE-9483-114BD01DD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233BD5C-DFC7-4EB7-B348-7C9B5B8D0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A00D2CE1-35C1-46E6-BD59-CEE668BD90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A58DCE86-9AE1-46D1-96D6-04B8B3EDF6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0" name="Straight Connector 29">
              <a:extLst>
                <a:ext uri="{FF2B5EF4-FFF2-40B4-BE49-F238E27FC236}">
                  <a16:creationId xmlns:a16="http://schemas.microsoft.com/office/drawing/2014/main" id="{89B74739-D423-4F25-A976-0A6CD86D17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018E700-FF08-42AA-9237-24E7A74AD3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6B3488A-8A55-403E-B9C9-75AFA0CF53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5089B9D-BA8D-4A64-B95F-33940D9D68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E18403B7-F2C7-4C07-8522-21C319109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23B58CC6-A99E-43AF-A467-256F19287F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8" name="Straight Connector 37">
              <a:extLst>
                <a:ext uri="{FF2B5EF4-FFF2-40B4-BE49-F238E27FC236}">
                  <a16:creationId xmlns:a16="http://schemas.microsoft.com/office/drawing/2014/main" id="{8FE97852-3A18-4317-B17E-8C45174F96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9D0BC6E-6D0B-4589-B1BF-372BAA3839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30B892E-E062-4B0A-B79E-E55D36EC9A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D1A4DF9-C28A-4C0A-B273-702F0C4880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002031ED-40D0-62B5-F5BF-F307458E0234}"/>
              </a:ext>
            </a:extLst>
          </p:cNvPr>
          <p:cNvSpPr>
            <a:spLocks noGrp="1"/>
          </p:cNvSpPr>
          <p:nvPr>
            <p:ph type="title"/>
          </p:nvPr>
        </p:nvSpPr>
        <p:spPr>
          <a:xfrm>
            <a:off x="630936" y="495992"/>
            <a:ext cx="4195140" cy="5638831"/>
          </a:xfrm>
          <a:noFill/>
        </p:spPr>
        <p:txBody>
          <a:bodyPr anchor="ctr">
            <a:normAutofit/>
          </a:bodyPr>
          <a:lstStyle/>
          <a:p>
            <a:r>
              <a:rPr lang="en-GB" sz="4000" b="1" i="0" dirty="0">
                <a:effectLst/>
                <a:latin typeface="+mn-lt"/>
              </a:rPr>
              <a:t>Benefits of Neighborhood-Based Primary Healthcare Model through case study</a:t>
            </a:r>
            <a:endParaRPr lang="en-GB" sz="4000" b="1" dirty="0">
              <a:latin typeface="+mn-lt"/>
            </a:endParaRPr>
          </a:p>
        </p:txBody>
      </p:sp>
      <p:graphicFrame>
        <p:nvGraphicFramePr>
          <p:cNvPr id="5" name="Content Placeholder 2">
            <a:extLst>
              <a:ext uri="{FF2B5EF4-FFF2-40B4-BE49-F238E27FC236}">
                <a16:creationId xmlns:a16="http://schemas.microsoft.com/office/drawing/2014/main" id="{90917CD2-4F9E-E3A3-426F-559C17CD8338}"/>
              </a:ext>
            </a:extLst>
          </p:cNvPr>
          <p:cNvGraphicFramePr>
            <a:graphicFrameLocks noGrp="1"/>
          </p:cNvGraphicFramePr>
          <p:nvPr>
            <p:ph idx="1"/>
            <p:extLst>
              <p:ext uri="{D42A27DB-BD31-4B8C-83A1-F6EECF244321}">
                <p14:modId xmlns:p14="http://schemas.microsoft.com/office/powerpoint/2010/main" val="4259968162"/>
              </p:ext>
            </p:extLst>
          </p:nvPr>
        </p:nvGraphicFramePr>
        <p:xfrm>
          <a:off x="4915947" y="866585"/>
          <a:ext cx="6253722" cy="50561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91093702"/>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0">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D67878-A9AA-96EB-2F90-1251C4545A6B}"/>
              </a:ext>
            </a:extLst>
          </p:cNvPr>
          <p:cNvSpPr>
            <a:spLocks noGrp="1"/>
          </p:cNvSpPr>
          <p:nvPr>
            <p:ph type="title"/>
          </p:nvPr>
        </p:nvSpPr>
        <p:spPr>
          <a:xfrm>
            <a:off x="6803409" y="762001"/>
            <a:ext cx="4156512" cy="1708244"/>
          </a:xfrm>
        </p:spPr>
        <p:txBody>
          <a:bodyPr anchor="ctr">
            <a:normAutofit/>
          </a:bodyPr>
          <a:lstStyle/>
          <a:p>
            <a:r>
              <a:rPr lang="en-GB" sz="4000" b="1" i="0" dirty="0">
                <a:effectLst/>
                <a:latin typeface="+mn-lt"/>
              </a:rPr>
              <a:t>Challenges and Solutions</a:t>
            </a:r>
            <a:endParaRPr lang="en-GB" sz="4000" b="1" dirty="0">
              <a:latin typeface="+mn-lt"/>
            </a:endParaRPr>
          </a:p>
        </p:txBody>
      </p:sp>
      <p:pic>
        <p:nvPicPr>
          <p:cNvPr id="19" name="Picture 4" descr="Exclamation mark on a yellow background">
            <a:extLst>
              <a:ext uri="{FF2B5EF4-FFF2-40B4-BE49-F238E27FC236}">
                <a16:creationId xmlns:a16="http://schemas.microsoft.com/office/drawing/2014/main" id="{2DD74F18-CF6B-6E06-888A-BD225502B0E4}"/>
              </a:ext>
            </a:extLst>
          </p:cNvPr>
          <p:cNvPicPr>
            <a:picLocks noChangeAspect="1"/>
          </p:cNvPicPr>
          <p:nvPr/>
        </p:nvPicPr>
        <p:blipFill rotWithShape="1">
          <a:blip r:embed="rId3"/>
          <a:srcRect l="23125" r="10208"/>
          <a:stretch/>
        </p:blipFill>
        <p:spPr>
          <a:xfrm>
            <a:off x="-1" y="-2"/>
            <a:ext cx="6096001" cy="6858002"/>
          </a:xfrm>
          <a:prstGeom prst="rect">
            <a:avLst/>
          </a:prstGeom>
        </p:spPr>
      </p:pic>
      <p:sp>
        <p:nvSpPr>
          <p:cNvPr id="3" name="Content Placeholder 2">
            <a:extLst>
              <a:ext uri="{FF2B5EF4-FFF2-40B4-BE49-F238E27FC236}">
                <a16:creationId xmlns:a16="http://schemas.microsoft.com/office/drawing/2014/main" id="{9323A087-477F-23CC-3EA9-12D4140FA19A}"/>
              </a:ext>
            </a:extLst>
          </p:cNvPr>
          <p:cNvSpPr>
            <a:spLocks noGrp="1"/>
          </p:cNvSpPr>
          <p:nvPr>
            <p:ph idx="1"/>
          </p:nvPr>
        </p:nvSpPr>
        <p:spPr>
          <a:xfrm>
            <a:off x="6803409" y="2470245"/>
            <a:ext cx="4156512" cy="3769835"/>
          </a:xfrm>
        </p:spPr>
        <p:txBody>
          <a:bodyPr anchor="ctr">
            <a:normAutofit/>
          </a:bodyPr>
          <a:lstStyle/>
          <a:p>
            <a:pPr>
              <a:buFont typeface="Arial" panose="020B0604020202020204" pitchFamily="34" charset="0"/>
              <a:buChar char="•"/>
            </a:pPr>
            <a:r>
              <a:rPr lang="en-GB" sz="2000" dirty="0"/>
              <a:t>Proximity</a:t>
            </a:r>
          </a:p>
          <a:p>
            <a:pPr>
              <a:buFont typeface="Arial" panose="020B0604020202020204" pitchFamily="34" charset="0"/>
              <a:buChar char="•"/>
            </a:pPr>
            <a:r>
              <a:rPr lang="en-GB" sz="2000" dirty="0"/>
              <a:t>Reduced Waiting Times</a:t>
            </a:r>
          </a:p>
          <a:p>
            <a:pPr>
              <a:buFont typeface="Arial" panose="020B0604020202020204" pitchFamily="34" charset="0"/>
              <a:buChar char="•"/>
            </a:pPr>
            <a:r>
              <a:rPr lang="en-GB" sz="2000" dirty="0"/>
              <a:t>Affordable Care</a:t>
            </a:r>
          </a:p>
          <a:p>
            <a:pPr>
              <a:buFont typeface="Arial" panose="020B0604020202020204" pitchFamily="34" charset="0"/>
              <a:buChar char="•"/>
            </a:pPr>
            <a:r>
              <a:rPr lang="en-GB" sz="2000" dirty="0"/>
              <a:t>Culturally Relevant Care</a:t>
            </a:r>
          </a:p>
          <a:p>
            <a:pPr>
              <a:buFont typeface="Arial" panose="020B0604020202020204" pitchFamily="34" charset="0"/>
              <a:buChar char="•"/>
            </a:pPr>
            <a:r>
              <a:rPr lang="en-GB" sz="2000" dirty="0"/>
              <a:t>Preventive Care and Education</a:t>
            </a:r>
          </a:p>
        </p:txBody>
      </p:sp>
    </p:spTree>
    <p:extLst>
      <p:ext uri="{BB962C8B-B14F-4D97-AF65-F5344CB8AC3E}">
        <p14:creationId xmlns:p14="http://schemas.microsoft.com/office/powerpoint/2010/main" val="1808851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D67878-A9AA-96EB-2F90-1251C4545A6B}"/>
              </a:ext>
            </a:extLst>
          </p:cNvPr>
          <p:cNvSpPr>
            <a:spLocks noGrp="1"/>
          </p:cNvSpPr>
          <p:nvPr>
            <p:ph type="title"/>
          </p:nvPr>
        </p:nvSpPr>
        <p:spPr>
          <a:xfrm>
            <a:off x="635000" y="640823"/>
            <a:ext cx="3418659" cy="5583148"/>
          </a:xfrm>
        </p:spPr>
        <p:txBody>
          <a:bodyPr anchor="ctr">
            <a:normAutofit/>
          </a:bodyPr>
          <a:lstStyle/>
          <a:p>
            <a:r>
              <a:rPr lang="en-GB" sz="3600" b="1" i="0" dirty="0">
                <a:effectLst/>
                <a:latin typeface="+mn-lt"/>
              </a:rPr>
              <a:t>Interdisciplinary Collaboration</a:t>
            </a:r>
            <a:endParaRPr lang="en-GB" sz="3600" b="1" dirty="0">
              <a:latin typeface="+mn-lt"/>
            </a:endParaRP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B798AE4-0263-7136-516A-C890C9920429}"/>
              </a:ext>
            </a:extLst>
          </p:cNvPr>
          <p:cNvGraphicFramePr>
            <a:graphicFrameLocks noGrp="1"/>
          </p:cNvGraphicFramePr>
          <p:nvPr>
            <p:ph idx="1"/>
            <p:extLst>
              <p:ext uri="{D42A27DB-BD31-4B8C-83A1-F6EECF244321}">
                <p14:modId xmlns:p14="http://schemas.microsoft.com/office/powerpoint/2010/main" val="96949098"/>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95188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 name="Rectangle 69">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9" name="Group 71">
            <a:extLst>
              <a:ext uri="{FF2B5EF4-FFF2-40B4-BE49-F238E27FC236}">
                <a16:creationId xmlns:a16="http://schemas.microsoft.com/office/drawing/2014/main" id="{2A638C7D-9088-41A9-88A0-7357157BC1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31180" y="1109243"/>
            <a:ext cx="4842710" cy="4842710"/>
            <a:chOff x="1881974" y="1174396"/>
            <a:chExt cx="5290997" cy="5290997"/>
          </a:xfrm>
        </p:grpSpPr>
        <p:sp>
          <p:nvSpPr>
            <p:cNvPr id="90" name="Oval 72">
              <a:extLst>
                <a:ext uri="{FF2B5EF4-FFF2-40B4-BE49-F238E27FC236}">
                  <a16:creationId xmlns:a16="http://schemas.microsoft.com/office/drawing/2014/main" id="{9714B173-1D32-4BBC-A685-1F5D257ABD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73">
              <a:extLst>
                <a:ext uri="{FF2B5EF4-FFF2-40B4-BE49-F238E27FC236}">
                  <a16:creationId xmlns:a16="http://schemas.microsoft.com/office/drawing/2014/main" id="{BEF82DD1-2343-4F41-B6A7-A6489A713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2" name="Oval 75">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0270" y="1095407"/>
            <a:ext cx="4754948" cy="4754948"/>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859C68-48AB-A268-CB23-1189E31C4290}"/>
              </a:ext>
            </a:extLst>
          </p:cNvPr>
          <p:cNvSpPr>
            <a:spLocks noGrp="1"/>
          </p:cNvSpPr>
          <p:nvPr>
            <p:ph type="title"/>
          </p:nvPr>
        </p:nvSpPr>
        <p:spPr>
          <a:xfrm>
            <a:off x="5644751" y="568517"/>
            <a:ext cx="6161004" cy="886379"/>
          </a:xfrm>
        </p:spPr>
        <p:txBody>
          <a:bodyPr>
            <a:normAutofit/>
          </a:bodyPr>
          <a:lstStyle/>
          <a:p>
            <a:r>
              <a:rPr lang="en-GB" sz="4000" b="1" i="0" dirty="0">
                <a:solidFill>
                  <a:schemeClr val="bg1"/>
                </a:solidFill>
                <a:effectLst/>
                <a:latin typeface="+mn-lt"/>
              </a:rPr>
              <a:t>Conclusion</a:t>
            </a:r>
            <a:endParaRPr lang="en-GB" sz="4000" b="1" dirty="0">
              <a:solidFill>
                <a:schemeClr val="bg1"/>
              </a:solidFill>
              <a:latin typeface="+mn-lt"/>
            </a:endParaRPr>
          </a:p>
        </p:txBody>
      </p:sp>
      <p:grpSp>
        <p:nvGrpSpPr>
          <p:cNvPr id="93" name="Group 77">
            <a:extLst>
              <a:ext uri="{FF2B5EF4-FFF2-40B4-BE49-F238E27FC236}">
                <a16:creationId xmlns:a16="http://schemas.microsoft.com/office/drawing/2014/main" id="{3F219210-B16A-47B6-9AA8-207DAFF37E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94" name="Freeform: Shape 78">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95" name="Freeform: Shape 79">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pic>
        <p:nvPicPr>
          <p:cNvPr id="5" name="Picture 4" descr="Desk with stethoscope and computer keyboard">
            <a:extLst>
              <a:ext uri="{FF2B5EF4-FFF2-40B4-BE49-F238E27FC236}">
                <a16:creationId xmlns:a16="http://schemas.microsoft.com/office/drawing/2014/main" id="{6589C7CD-74F9-CE92-8EE3-753B7CF1CC2B}"/>
              </a:ext>
            </a:extLst>
          </p:cNvPr>
          <p:cNvPicPr>
            <a:picLocks noChangeAspect="1"/>
          </p:cNvPicPr>
          <p:nvPr/>
        </p:nvPicPr>
        <p:blipFill rotWithShape="1">
          <a:blip r:embed="rId3"/>
          <a:srcRect l="33251" r="-2" b="-2"/>
          <a:stretch/>
        </p:blipFill>
        <p:spPr>
          <a:xfrm>
            <a:off x="1649085" y="1864214"/>
            <a:ext cx="3217317" cy="3217333"/>
          </a:xfrm>
          <a:prstGeom prst="rect">
            <a:avLst/>
          </a:prstGeom>
        </p:spPr>
      </p:pic>
      <p:sp>
        <p:nvSpPr>
          <p:cNvPr id="3" name="Content Placeholder 2">
            <a:extLst>
              <a:ext uri="{FF2B5EF4-FFF2-40B4-BE49-F238E27FC236}">
                <a16:creationId xmlns:a16="http://schemas.microsoft.com/office/drawing/2014/main" id="{38C57239-AA63-3AE8-12FF-36B791C6FB1F}"/>
              </a:ext>
            </a:extLst>
          </p:cNvPr>
          <p:cNvSpPr>
            <a:spLocks noGrp="1"/>
          </p:cNvSpPr>
          <p:nvPr>
            <p:ph idx="1"/>
          </p:nvPr>
        </p:nvSpPr>
        <p:spPr>
          <a:xfrm>
            <a:off x="6234868" y="1820369"/>
            <a:ext cx="5217173" cy="4351338"/>
          </a:xfrm>
        </p:spPr>
        <p:txBody>
          <a:bodyPr>
            <a:normAutofit/>
          </a:bodyPr>
          <a:lstStyle/>
          <a:p>
            <a:pPr>
              <a:buFont typeface="Arial" panose="020B0604020202020204" pitchFamily="34" charset="0"/>
              <a:buChar char="•"/>
            </a:pPr>
            <a:r>
              <a:rPr lang="en-GB" sz="1800" b="0" i="0" dirty="0">
                <a:solidFill>
                  <a:schemeClr val="bg1"/>
                </a:solidFill>
                <a:effectLst/>
              </a:rPr>
              <a:t>Improve patient happiness, healthcare access, cost-effectiveness, and overall health outcomes</a:t>
            </a:r>
          </a:p>
          <a:p>
            <a:pPr>
              <a:buFont typeface="Arial" panose="020B0604020202020204" pitchFamily="34" charset="0"/>
              <a:buChar char="•"/>
            </a:pPr>
            <a:r>
              <a:rPr lang="en-GB" sz="1800" b="0" i="0" dirty="0">
                <a:solidFill>
                  <a:schemeClr val="bg1"/>
                </a:solidFill>
                <a:effectLst/>
              </a:rPr>
              <a:t>More sustainable healthcare system due to cost-effectiveness and early identification and management of health issues</a:t>
            </a:r>
          </a:p>
          <a:p>
            <a:pPr>
              <a:buFont typeface="Arial" panose="020B0604020202020204" pitchFamily="34" charset="0"/>
              <a:buChar char="•"/>
            </a:pPr>
            <a:r>
              <a:rPr lang="en-GB" sz="1800" b="0" i="0" dirty="0">
                <a:solidFill>
                  <a:schemeClr val="bg1"/>
                </a:solidFill>
                <a:effectLst/>
              </a:rPr>
              <a:t>Enhance patient satisfaction, leading to improved healthcare utilization and better results</a:t>
            </a:r>
          </a:p>
          <a:p>
            <a:pPr>
              <a:buFont typeface="Arial" panose="020B0604020202020204" pitchFamily="34" charset="0"/>
              <a:buChar char="•"/>
            </a:pPr>
            <a:r>
              <a:rPr lang="en-GB" sz="1800" b="0" i="0" dirty="0">
                <a:solidFill>
                  <a:schemeClr val="bg1"/>
                </a:solidFill>
                <a:effectLst/>
              </a:rPr>
              <a:t>Reduced healthcare costs and well-being for communities</a:t>
            </a:r>
          </a:p>
          <a:p>
            <a:pPr>
              <a:buFont typeface="Arial" panose="020B0604020202020204" pitchFamily="34" charset="0"/>
              <a:buChar char="•"/>
            </a:pPr>
            <a:r>
              <a:rPr lang="en-GB" sz="1800" b="0" i="0" dirty="0">
                <a:solidFill>
                  <a:schemeClr val="bg1"/>
                </a:solidFill>
                <a:effectLst/>
              </a:rPr>
              <a:t>Equitable and effective approach</a:t>
            </a:r>
          </a:p>
          <a:p>
            <a:pPr>
              <a:buFont typeface="Arial" panose="020B0604020202020204" pitchFamily="34" charset="0"/>
              <a:buChar char="•"/>
            </a:pPr>
            <a:r>
              <a:rPr lang="en-GB" sz="1800" b="0" i="0" dirty="0">
                <a:solidFill>
                  <a:schemeClr val="bg1"/>
                </a:solidFill>
                <a:effectLst/>
              </a:rPr>
              <a:t>Viable strategy on proactive and accessible healthcare services adapted for local communities</a:t>
            </a:r>
          </a:p>
        </p:txBody>
      </p:sp>
      <p:grpSp>
        <p:nvGrpSpPr>
          <p:cNvPr id="82"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83" name="Freeform: Shape 82">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2319535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E0294F-5A82-FEF3-58F7-B1C5FF85FADD}"/>
              </a:ext>
            </a:extLst>
          </p:cNvPr>
          <p:cNvSpPr>
            <a:spLocks noGrp="1"/>
          </p:cNvSpPr>
          <p:nvPr>
            <p:ph type="title"/>
          </p:nvPr>
        </p:nvSpPr>
        <p:spPr>
          <a:xfrm>
            <a:off x="838200" y="365125"/>
            <a:ext cx="10515600" cy="1325563"/>
          </a:xfrm>
        </p:spPr>
        <p:txBody>
          <a:bodyPr>
            <a:normAutofit/>
          </a:bodyPr>
          <a:lstStyle/>
          <a:p>
            <a:r>
              <a:rPr lang="en-GB" sz="5400" b="1"/>
              <a:t>Reference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7C7DFA3-A0AA-E788-7F39-BD2E22C7F29A}"/>
              </a:ext>
            </a:extLst>
          </p:cNvPr>
          <p:cNvSpPr>
            <a:spLocks noGrp="1"/>
          </p:cNvSpPr>
          <p:nvPr>
            <p:ph idx="1"/>
          </p:nvPr>
        </p:nvSpPr>
        <p:spPr>
          <a:xfrm>
            <a:off x="267286" y="1929384"/>
            <a:ext cx="11924714" cy="4855464"/>
          </a:xfrm>
        </p:spPr>
        <p:txBody>
          <a:bodyPr>
            <a:normAutofit/>
          </a:bodyPr>
          <a:lstStyle/>
          <a:p>
            <a:pPr marL="0" indent="0">
              <a:spcBef>
                <a:spcPts val="0"/>
              </a:spcBef>
              <a:spcAft>
                <a:spcPts val="600"/>
              </a:spcAft>
              <a:buNone/>
            </a:pP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[1] - Star, J., Han, X., </a:t>
            </a:r>
            <a:r>
              <a:rPr lang="en-GB" sz="1050" kern="100" dirty="0" err="1">
                <a:effectLst/>
                <a:latin typeface="Calibri" panose="020F0502020204030204" pitchFamily="34" charset="0"/>
                <a:ea typeface="Calibri" panose="020F0502020204030204" pitchFamily="34" charset="0"/>
                <a:cs typeface="Times New Roman" panose="02020603050405020304" pitchFamily="18" charset="0"/>
              </a:rPr>
              <a:t>Makaroff</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L. A., </a:t>
            </a:r>
            <a:r>
              <a:rPr lang="en-GB" sz="1050" kern="100" dirty="0" err="1">
                <a:effectLst/>
                <a:latin typeface="Calibri" panose="020F0502020204030204" pitchFamily="34" charset="0"/>
                <a:ea typeface="Calibri" panose="020F0502020204030204" pitchFamily="34" charset="0"/>
                <a:cs typeface="Times New Roman" panose="02020603050405020304" pitchFamily="18" charset="0"/>
              </a:rPr>
              <a:t>Minihan</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A. K., Jemal, A., &amp; </a:t>
            </a:r>
            <a:r>
              <a:rPr lang="en-GB" sz="1050" kern="100" dirty="0" err="1">
                <a:effectLst/>
                <a:latin typeface="Calibri" panose="020F0502020204030204" pitchFamily="34" charset="0"/>
                <a:ea typeface="Calibri" panose="020F0502020204030204" pitchFamily="34" charset="0"/>
                <a:cs typeface="Times New Roman" panose="02020603050405020304" pitchFamily="18" charset="0"/>
              </a:rPr>
              <a:t>Bandi</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P. (2023). The first year of the COVID-19 pandemic: Changes in preventive services in community health </a:t>
            </a:r>
            <a:r>
              <a:rPr lang="en-GB" sz="1050" kern="100" dirty="0" err="1">
                <a:effectLst/>
                <a:latin typeface="Calibri" panose="020F0502020204030204" pitchFamily="34" charset="0"/>
                <a:ea typeface="Calibri" panose="020F0502020204030204" pitchFamily="34" charset="0"/>
                <a:cs typeface="Times New Roman" panose="02020603050405020304" pitchFamily="18" charset="0"/>
              </a:rPr>
              <a:t>centers</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American Journal of Preventive Medicine, 64(2), 184–193. </a:t>
            </a:r>
            <a:r>
              <a:rPr lang="en-GB" sz="1050" u="sng" kern="100" dirty="0">
                <a:effectLst/>
                <a:latin typeface="Calibri" panose="020F0502020204030204" pitchFamily="34" charset="0"/>
                <a:ea typeface="Calibri" panose="020F0502020204030204" pitchFamily="34" charset="0"/>
                <a:cs typeface="Times New Roman" panose="02020603050405020304" pitchFamily="18" charset="0"/>
                <a:hlinkClick r:id="rId2"/>
              </a:rPr>
              <a:t>https://doi.org/10.1016/j.amepre.2022.08.023</a:t>
            </a:r>
            <a:endParaRPr lang="en-GB" sz="105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spcBef>
                <a:spcPts val="0"/>
              </a:spcBef>
              <a:spcAft>
                <a:spcPts val="600"/>
              </a:spcAft>
              <a:buNone/>
            </a:pP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[11] - Carlson, L. C., Kim, J., Samuels-</a:t>
            </a:r>
            <a:r>
              <a:rPr lang="en-GB" sz="1050" kern="100" dirty="0" err="1">
                <a:effectLst/>
                <a:latin typeface="Calibri" panose="020F0502020204030204" pitchFamily="34" charset="0"/>
                <a:ea typeface="Calibri" panose="020F0502020204030204" pitchFamily="34" charset="0"/>
                <a:cs typeface="Times New Roman" panose="02020603050405020304" pitchFamily="18" charset="0"/>
              </a:rPr>
              <a:t>Kalow</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M. E., Yun, B. J., Terry, D. F., </a:t>
            </a:r>
            <a:r>
              <a:rPr lang="en-GB" sz="1050" kern="100" dirty="0" err="1">
                <a:effectLst/>
                <a:latin typeface="Calibri" panose="020F0502020204030204" pitchFamily="34" charset="0"/>
                <a:ea typeface="Calibri" panose="020F0502020204030204" pitchFamily="34" charset="0"/>
                <a:cs typeface="Times New Roman" panose="02020603050405020304" pitchFamily="18" charset="0"/>
              </a:rPr>
              <a:t>Weilburg</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J. B., &amp; Lee, J. (2020). Comparing neighborhood-based indices of socioeconomic risk factors and potentially preventable emergency department utilization. American Journal of Emergency Medicine. </a:t>
            </a:r>
            <a:r>
              <a:rPr lang="en-GB" sz="1050" u="sng" kern="100" dirty="0">
                <a:effectLst/>
                <a:latin typeface="Calibri" panose="020F0502020204030204" pitchFamily="34" charset="0"/>
                <a:ea typeface="Calibri" panose="020F0502020204030204" pitchFamily="34" charset="0"/>
                <a:cs typeface="Times New Roman" panose="02020603050405020304" pitchFamily="18" charset="0"/>
                <a:hlinkClick r:id="rId3"/>
              </a:rPr>
              <a:t>https://doi.org/10.1016/j.ajem.2020.03.035</a:t>
            </a:r>
            <a:endParaRPr lang="en-GB" sz="105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spcBef>
                <a:spcPts val="0"/>
              </a:spcBef>
              <a:spcAft>
                <a:spcPts val="600"/>
              </a:spcAft>
              <a:buNone/>
            </a:pP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[14] - Merzel, C., &amp; </a:t>
            </a:r>
            <a:r>
              <a:rPr lang="en-GB" sz="1050" kern="100" dirty="0" err="1">
                <a:effectLst/>
                <a:latin typeface="Calibri" panose="020F0502020204030204" pitchFamily="34" charset="0"/>
                <a:ea typeface="Calibri" panose="020F0502020204030204" pitchFamily="34" charset="0"/>
                <a:cs typeface="Times New Roman" panose="02020603050405020304" pitchFamily="18" charset="0"/>
              </a:rPr>
              <a:t>D’afflitti</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J. G. (2003). Reconsidering Community-Based Health Promotion: promise, performance, and potential. American Journal of Public Health, 93(4), 557–574. </a:t>
            </a:r>
            <a:r>
              <a:rPr lang="en-GB" sz="1050" u="sng" kern="100" dirty="0">
                <a:effectLst/>
                <a:latin typeface="Calibri" panose="020F0502020204030204" pitchFamily="34" charset="0"/>
                <a:ea typeface="Calibri" panose="020F0502020204030204" pitchFamily="34" charset="0"/>
                <a:cs typeface="Times New Roman" panose="02020603050405020304" pitchFamily="18" charset="0"/>
                <a:hlinkClick r:id="rId4"/>
              </a:rPr>
              <a:t>https://doi.org/10.2105/ajph.93.4.557</a:t>
            </a:r>
            <a:endParaRPr lang="en-GB" sz="105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spcBef>
                <a:spcPts val="0"/>
              </a:spcBef>
              <a:spcAft>
                <a:spcPts val="600"/>
              </a:spcAft>
              <a:buNone/>
            </a:pP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[27] - Sah, T., Kaushik, R., </a:t>
            </a:r>
            <a:r>
              <a:rPr lang="en-GB" sz="1050" kern="100" dirty="0" err="1">
                <a:effectLst/>
                <a:latin typeface="Calibri" panose="020F0502020204030204" pitchFamily="34" charset="0"/>
                <a:ea typeface="Calibri" panose="020F0502020204030204" pitchFamily="34" charset="0"/>
                <a:cs typeface="Times New Roman" panose="02020603050405020304" pitchFamily="18" charset="0"/>
              </a:rPr>
              <a:t>Bailwal</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N., &amp; </a:t>
            </a:r>
            <a:r>
              <a:rPr lang="en-GB" sz="1050" kern="100" dirty="0" err="1">
                <a:effectLst/>
                <a:latin typeface="Calibri" panose="020F0502020204030204" pitchFamily="34" charset="0"/>
                <a:ea typeface="Calibri" panose="020F0502020204030204" pitchFamily="34" charset="0"/>
                <a:cs typeface="Times New Roman" panose="02020603050405020304" pitchFamily="18" charset="0"/>
              </a:rPr>
              <a:t>Tep</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N. (2019). Mohalla Clinics in Delhi: A Preliminary Assessment of their Functioning and Coverage. Indian Journal of Human Development, 13(2), 195–210. </a:t>
            </a:r>
            <a:r>
              <a:rPr lang="en-GB" sz="1050" u="sng" kern="100" dirty="0">
                <a:effectLst/>
                <a:latin typeface="Calibri" panose="020F0502020204030204" pitchFamily="34" charset="0"/>
                <a:ea typeface="Calibri" panose="020F0502020204030204" pitchFamily="34" charset="0"/>
                <a:cs typeface="Times New Roman" panose="02020603050405020304" pitchFamily="18" charset="0"/>
                <a:hlinkClick r:id="rId5"/>
              </a:rPr>
              <a:t>https://doi.org/10.1177/0973703019872023</a:t>
            </a:r>
            <a:endParaRPr lang="en-GB" sz="105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spcBef>
                <a:spcPts val="0"/>
              </a:spcBef>
              <a:spcAft>
                <a:spcPts val="600"/>
              </a:spcAft>
              <a:buNone/>
            </a:pP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[28] - </a:t>
            </a:r>
            <a:r>
              <a:rPr lang="en-GB" sz="1050" kern="100" dirty="0" err="1">
                <a:effectLst/>
                <a:latin typeface="Calibri" panose="020F0502020204030204" pitchFamily="34" charset="0"/>
                <a:ea typeface="Calibri" panose="020F0502020204030204" pitchFamily="34" charset="0"/>
                <a:cs typeface="Times New Roman" panose="02020603050405020304" pitchFamily="18" charset="0"/>
              </a:rPr>
              <a:t>Lahariya</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C. (2017). Mohalla Clinics of Delhi, India: Could these become platform to strengthen primary healthcare? Journal of Family Medicine and Primary Care, 6(1), 1. </a:t>
            </a:r>
            <a:r>
              <a:rPr lang="en-GB" sz="1050" u="sng" kern="100" dirty="0">
                <a:effectLst/>
                <a:latin typeface="Calibri" panose="020F0502020204030204" pitchFamily="34" charset="0"/>
                <a:ea typeface="Calibri" panose="020F0502020204030204" pitchFamily="34" charset="0"/>
                <a:cs typeface="Times New Roman" panose="02020603050405020304" pitchFamily="18" charset="0"/>
                <a:hlinkClick r:id="rId6"/>
              </a:rPr>
              <a:t>https://doi.org/10.4103/jfmpc.jfmpc_29_17</a:t>
            </a:r>
            <a:endParaRPr lang="en-GB" sz="105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spcBef>
                <a:spcPts val="0"/>
              </a:spcBef>
              <a:spcAft>
                <a:spcPts val="600"/>
              </a:spcAft>
              <a:buNone/>
            </a:pP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[29] - </a:t>
            </a:r>
            <a:r>
              <a:rPr lang="en-GB" sz="1050" kern="100" dirty="0" err="1">
                <a:effectLst/>
                <a:latin typeface="Calibri" panose="020F0502020204030204" pitchFamily="34" charset="0"/>
                <a:ea typeface="Calibri" panose="020F0502020204030204" pitchFamily="34" charset="0"/>
                <a:cs typeface="Times New Roman" panose="02020603050405020304" pitchFamily="18" charset="0"/>
              </a:rPr>
              <a:t>Goyanka</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R., &amp; Garg, C. C. (2023). Patient perception of attributes of primary care: a study of Aam Aadmi Mohalla Clinics in Delhi, India. Family Practice. </a:t>
            </a:r>
            <a:r>
              <a:rPr lang="en-GB" sz="1050" u="sng" kern="100" dirty="0">
                <a:effectLst/>
                <a:latin typeface="Calibri" panose="020F0502020204030204" pitchFamily="34" charset="0"/>
                <a:ea typeface="Calibri" panose="020F0502020204030204" pitchFamily="34" charset="0"/>
                <a:cs typeface="Times New Roman" panose="02020603050405020304" pitchFamily="18" charset="0"/>
                <a:hlinkClick r:id="rId7"/>
              </a:rPr>
              <a:t>https://doi.org/10.1093/fampra/cmac154</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spcBef>
                <a:spcPts val="0"/>
              </a:spcBef>
              <a:spcAft>
                <a:spcPts val="600"/>
              </a:spcAft>
              <a:buNone/>
            </a:pP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[32] - Aarons, G. A., Hurlburt, M. S., &amp; Horwitz, S. M. (2010). Advancing a conceptual model of Evidence-Based practice implementation in public service sectors. Administration and Policy in Mental Health, 38(1), 4–23. </a:t>
            </a:r>
            <a:r>
              <a:rPr lang="en-GB" sz="1050" u="sng" kern="100" dirty="0">
                <a:effectLst/>
                <a:latin typeface="Calibri" panose="020F0502020204030204" pitchFamily="34" charset="0"/>
                <a:ea typeface="Calibri" panose="020F0502020204030204" pitchFamily="34" charset="0"/>
                <a:cs typeface="Times New Roman" panose="02020603050405020304" pitchFamily="18" charset="0"/>
                <a:hlinkClick r:id="rId8"/>
              </a:rPr>
              <a:t>https://doi.org/10.1007/s10488-010-0327-7</a:t>
            </a:r>
            <a:endParaRPr lang="en-GB" sz="105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spcBef>
                <a:spcPts val="0"/>
              </a:spcBef>
              <a:spcAft>
                <a:spcPts val="600"/>
              </a:spcAft>
              <a:buNone/>
            </a:pP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[38] - </a:t>
            </a:r>
            <a:r>
              <a:rPr lang="en-GB" sz="1050" kern="100" dirty="0" err="1">
                <a:effectLst/>
                <a:latin typeface="Calibri" panose="020F0502020204030204" pitchFamily="34" charset="0"/>
                <a:ea typeface="Calibri" panose="020F0502020204030204" pitchFamily="34" charset="0"/>
                <a:cs typeface="Times New Roman" panose="02020603050405020304" pitchFamily="18" charset="0"/>
              </a:rPr>
              <a:t>Minkler</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M. (2005). Community-Based Research Partnerships: Challenges and opportunities. Journal of Urban Health-bulletin of the New York Academy of Medicine, 82(2_suppl_2), ii3–ii12. </a:t>
            </a:r>
            <a:r>
              <a:rPr lang="en-GB" sz="1050" u="sng" kern="100" dirty="0">
                <a:effectLst/>
                <a:latin typeface="Calibri" panose="020F0502020204030204" pitchFamily="34" charset="0"/>
                <a:ea typeface="Calibri" panose="020F0502020204030204" pitchFamily="34" charset="0"/>
                <a:cs typeface="Times New Roman" panose="02020603050405020304" pitchFamily="18" charset="0"/>
                <a:hlinkClick r:id="rId9"/>
              </a:rPr>
              <a:t>https://doi.org/10.1093/jurban/jti034</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spcBef>
                <a:spcPts val="0"/>
              </a:spcBef>
              <a:spcAft>
                <a:spcPts val="600"/>
              </a:spcAft>
              <a:buNone/>
            </a:pP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[39] - </a:t>
            </a:r>
            <a:r>
              <a:rPr lang="en-GB" sz="1050" kern="100" dirty="0" err="1">
                <a:effectLst/>
                <a:latin typeface="Calibri" panose="020F0502020204030204" pitchFamily="34" charset="0"/>
                <a:ea typeface="Calibri" panose="020F0502020204030204" pitchFamily="34" charset="0"/>
                <a:cs typeface="Times New Roman" panose="02020603050405020304" pitchFamily="18" charset="0"/>
              </a:rPr>
              <a:t>Bazzoli</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G. J., Lee, W., Hsieh, H., &amp; Mobley, L. R. (2011). The effects of safety net hospital closures and conversions on patient travel distance to hospital services. Health Services Research, 47(1pt1), 129–150. </a:t>
            </a:r>
            <a:r>
              <a:rPr lang="en-GB" sz="1050" u="sng" kern="100" dirty="0">
                <a:effectLst/>
                <a:latin typeface="Calibri" panose="020F0502020204030204" pitchFamily="34" charset="0"/>
                <a:ea typeface="Calibri" panose="020F0502020204030204" pitchFamily="34" charset="0"/>
                <a:cs typeface="Times New Roman" panose="02020603050405020304" pitchFamily="18" charset="0"/>
                <a:hlinkClick r:id="rId10"/>
              </a:rPr>
              <a:t>https://doi.org/10.1111/j.1475- 6773.2011.01318.x</a:t>
            </a:r>
            <a:endParaRPr lang="en-GB" sz="105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spcBef>
                <a:spcPts val="0"/>
              </a:spcBef>
              <a:spcAft>
                <a:spcPts val="600"/>
              </a:spcAft>
              <a:buNone/>
            </a:pP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[42] - Rayner, J. J., Muldoon, L., </a:t>
            </a:r>
            <a:r>
              <a:rPr lang="en-GB" sz="1050" kern="100" dirty="0" err="1">
                <a:effectLst/>
                <a:latin typeface="Calibri" panose="020F0502020204030204" pitchFamily="34" charset="0"/>
                <a:ea typeface="Calibri" panose="020F0502020204030204" pitchFamily="34" charset="0"/>
                <a:cs typeface="Times New Roman" panose="02020603050405020304" pitchFamily="18" charset="0"/>
              </a:rPr>
              <a:t>Bayoumi</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I., </a:t>
            </a:r>
            <a:r>
              <a:rPr lang="en-GB" sz="1050" kern="100" dirty="0" err="1">
                <a:effectLst/>
                <a:latin typeface="Calibri" panose="020F0502020204030204" pitchFamily="34" charset="0"/>
                <a:ea typeface="Calibri" panose="020F0502020204030204" pitchFamily="34" charset="0"/>
                <a:cs typeface="Times New Roman" panose="02020603050405020304" pitchFamily="18" charset="0"/>
              </a:rPr>
              <a:t>McMurchy</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D., Mulligan, K., &amp; </a:t>
            </a:r>
            <a:r>
              <a:rPr lang="en-GB" sz="1050" kern="100" dirty="0" err="1">
                <a:effectLst/>
                <a:latin typeface="Calibri" panose="020F0502020204030204" pitchFamily="34" charset="0"/>
                <a:ea typeface="Calibri" panose="020F0502020204030204" pitchFamily="34" charset="0"/>
                <a:cs typeface="Times New Roman" panose="02020603050405020304" pitchFamily="18" charset="0"/>
              </a:rPr>
              <a:t>Tharao</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W. (2018). Delivering primary health care as envisioned. Journal of Integrated Care, 26(3), 231–241. </a:t>
            </a:r>
            <a:r>
              <a:rPr lang="en-GB" sz="1050" u="sng" kern="100" dirty="0">
                <a:effectLst/>
                <a:latin typeface="Calibri" panose="020F0502020204030204" pitchFamily="34" charset="0"/>
                <a:ea typeface="Calibri" panose="020F0502020204030204" pitchFamily="34" charset="0"/>
                <a:cs typeface="Times New Roman" panose="02020603050405020304" pitchFamily="18" charset="0"/>
                <a:hlinkClick r:id="rId11"/>
              </a:rPr>
              <a:t>https://doi.org/10.1108/jica-02-2018-0014</a:t>
            </a:r>
            <a:endParaRPr lang="en-GB" sz="105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spcBef>
                <a:spcPts val="0"/>
              </a:spcBef>
              <a:spcAft>
                <a:spcPts val="600"/>
              </a:spcAft>
              <a:buNone/>
            </a:pP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[44] - New care models - what’s the evidence. (n.d.). The Strategy Unit. </a:t>
            </a:r>
            <a:r>
              <a:rPr lang="en-GB" sz="1050" u="sng" kern="100" dirty="0">
                <a:effectLst/>
                <a:latin typeface="Calibri" panose="020F0502020204030204" pitchFamily="34" charset="0"/>
                <a:ea typeface="Calibri" panose="020F0502020204030204" pitchFamily="34" charset="0"/>
                <a:cs typeface="Times New Roman" panose="02020603050405020304" pitchFamily="18" charset="0"/>
                <a:hlinkClick r:id="rId12"/>
              </a:rPr>
              <a:t>https://www.strategyunitwm.nhs.uk/publications/new-care-models-whats-evidence</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spcBef>
                <a:spcPts val="0"/>
              </a:spcBef>
              <a:spcAft>
                <a:spcPts val="600"/>
              </a:spcAft>
              <a:buNone/>
            </a:pP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[45] - AMRIT Clinics – Basic HealthCare Services (BHS). (n.d.). </a:t>
            </a:r>
            <a:r>
              <a:rPr lang="en-GB" sz="1050" kern="100" dirty="0">
                <a:effectLst/>
                <a:latin typeface="Calibri" panose="020F0502020204030204" pitchFamily="34" charset="0"/>
                <a:ea typeface="Calibri" panose="020F0502020204030204" pitchFamily="34" charset="0"/>
                <a:cs typeface="Times New Roman" panose="02020603050405020304" pitchFamily="18" charset="0"/>
                <a:hlinkClick r:id="rId13"/>
              </a:rPr>
              <a:t>https://bhs.org.in/theamrit-solution/</a:t>
            </a:r>
            <a:endParaRPr lang="en-GB" sz="105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spcBef>
                <a:spcPts val="0"/>
              </a:spcBef>
              <a:spcAft>
                <a:spcPts val="600"/>
              </a:spcAft>
              <a:buNone/>
            </a:pP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[52] - White, F. (2015). Primary health care and public health: foundations of universal health systems. Medical Principles and Practice, 24(2), 103–116. </a:t>
            </a:r>
            <a:r>
              <a:rPr lang="en-GB" sz="1050" u="sng" kern="100" dirty="0">
                <a:effectLst/>
                <a:latin typeface="Calibri" panose="020F0502020204030204" pitchFamily="34" charset="0"/>
                <a:ea typeface="Calibri" panose="020F0502020204030204" pitchFamily="34" charset="0"/>
                <a:cs typeface="Times New Roman" panose="02020603050405020304" pitchFamily="18" charset="0"/>
                <a:hlinkClick r:id="rId14"/>
              </a:rPr>
              <a:t>https://doi.org/10.1159/000370197</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spcBef>
                <a:spcPts val="0"/>
              </a:spcBef>
              <a:spcAft>
                <a:spcPts val="600"/>
              </a:spcAft>
              <a:buNone/>
            </a:pP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[53] - WHO Regional Office for South-East Asia. (2009). Self-care in the context of primary health care. </a:t>
            </a:r>
            <a:r>
              <a:rPr lang="en-GB" sz="1050" u="sng" kern="100" dirty="0">
                <a:effectLst/>
                <a:latin typeface="Calibri" panose="020F0502020204030204" pitchFamily="34" charset="0"/>
                <a:ea typeface="Calibri" panose="020F0502020204030204" pitchFamily="34" charset="0"/>
                <a:cs typeface="Times New Roman" panose="02020603050405020304" pitchFamily="18" charset="0"/>
                <a:hlinkClick r:id="rId15"/>
              </a:rPr>
              <a:t>https://apps.who.int/iris/handle/10665/206352</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spcBef>
                <a:spcPts val="0"/>
              </a:spcBef>
              <a:spcAft>
                <a:spcPts val="600"/>
              </a:spcAft>
              <a:buNone/>
            </a:pP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[54] - </a:t>
            </a:r>
            <a:r>
              <a:rPr lang="en-GB" sz="1050" kern="100" dirty="0" err="1">
                <a:effectLst/>
                <a:latin typeface="Calibri" panose="020F0502020204030204" pitchFamily="34" charset="0"/>
                <a:ea typeface="Calibri" panose="020F0502020204030204" pitchFamily="34" charset="0"/>
                <a:cs typeface="Times New Roman" panose="02020603050405020304" pitchFamily="18" charset="0"/>
              </a:rPr>
              <a:t>Lahariya</a:t>
            </a:r>
            <a:r>
              <a:rPr lang="en-GB" sz="1050" kern="100" dirty="0">
                <a:effectLst/>
                <a:latin typeface="Calibri" panose="020F0502020204030204" pitchFamily="34" charset="0"/>
                <a:ea typeface="Calibri" panose="020F0502020204030204" pitchFamily="34" charset="0"/>
                <a:cs typeface="Times New Roman" panose="02020603050405020304" pitchFamily="18" charset="0"/>
              </a:rPr>
              <a:t>, C. (2020). Access, utilization, perceived quality, and satisfaction with health services at Mohalla (Community) Clinics of Delhi, India. Journal of Family Medicine and Primary Care, 9(12), 5872. </a:t>
            </a:r>
            <a:r>
              <a:rPr lang="en-GB" sz="1050" u="sng" kern="100" dirty="0">
                <a:effectLst/>
                <a:latin typeface="Calibri" panose="020F0502020204030204" pitchFamily="34" charset="0"/>
                <a:ea typeface="Calibri" panose="020F0502020204030204" pitchFamily="34" charset="0"/>
                <a:cs typeface="Times New Roman" panose="02020603050405020304" pitchFamily="18" charset="0"/>
                <a:hlinkClick r:id="rId16"/>
              </a:rPr>
              <a:t>https://doi.org/10.4103/jfmpc.jfmpc_1574_20</a:t>
            </a:r>
            <a:endParaRPr lang="en-GB" sz="105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427740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Many question marks on black background">
            <a:extLst>
              <a:ext uri="{FF2B5EF4-FFF2-40B4-BE49-F238E27FC236}">
                <a16:creationId xmlns:a16="http://schemas.microsoft.com/office/drawing/2014/main" id="{21AE91CF-3251-BF48-3496-2EA0418E43E7}"/>
              </a:ext>
            </a:extLst>
          </p:cNvPr>
          <p:cNvPicPr>
            <a:picLocks noChangeAspect="1"/>
          </p:cNvPicPr>
          <p:nvPr/>
        </p:nvPicPr>
        <p:blipFill rotWithShape="1">
          <a:blip r:embed="rId2">
            <a:alphaModFix amt="50000"/>
          </a:blip>
          <a:srcRect t="7787"/>
          <a:stretch/>
        </p:blipFill>
        <p:spPr>
          <a:xfrm>
            <a:off x="20" y="1"/>
            <a:ext cx="12191980" cy="6857999"/>
          </a:xfrm>
          <a:prstGeom prst="rect">
            <a:avLst/>
          </a:prstGeom>
        </p:spPr>
      </p:pic>
      <p:sp>
        <p:nvSpPr>
          <p:cNvPr id="2" name="Title 1">
            <a:extLst>
              <a:ext uri="{FF2B5EF4-FFF2-40B4-BE49-F238E27FC236}">
                <a16:creationId xmlns:a16="http://schemas.microsoft.com/office/drawing/2014/main" id="{B0A0F8E6-403F-5F8A-3D4A-4978450824DF}"/>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6000" b="1" dirty="0">
                <a:solidFill>
                  <a:srgbClr val="FFFFFF"/>
                </a:solidFill>
              </a:rPr>
              <a:t>Questions?</a:t>
            </a:r>
          </a:p>
        </p:txBody>
      </p:sp>
    </p:spTree>
    <p:extLst>
      <p:ext uri="{BB962C8B-B14F-4D97-AF65-F5344CB8AC3E}">
        <p14:creationId xmlns:p14="http://schemas.microsoft.com/office/powerpoint/2010/main" val="3449972821"/>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13" name="Oval 12">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E6B2E08-EC67-664B-2F47-82C71557CD52}"/>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US" sz="6000" b="1" kern="1200" dirty="0">
                <a:solidFill>
                  <a:schemeClr val="bg1"/>
                </a:solidFill>
                <a:latin typeface="+mj-lt"/>
                <a:ea typeface="+mj-ea"/>
                <a:cs typeface="+mj-cs"/>
              </a:rPr>
              <a:t>Thankyou!</a:t>
            </a:r>
          </a:p>
        </p:txBody>
      </p:sp>
      <p:sp>
        <p:nvSpPr>
          <p:cNvPr id="15"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17"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nvGrpSpPr>
          <p:cNvPr id="19"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0" name="Freeform: Shape 19">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23" name="Oval 22">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Oval 24">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7"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8" name="Freeform: Shape 27">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5323321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559</TotalTime>
  <Words>2693</Words>
  <Application>Microsoft Office PowerPoint</Application>
  <PresentationFormat>Widescreen</PresentationFormat>
  <Paragraphs>168</Paragraphs>
  <Slides>21</Slides>
  <Notes>10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__Poppins_3bfef9</vt:lpstr>
      <vt:lpstr>Arial</vt:lpstr>
      <vt:lpstr>Calibri</vt:lpstr>
      <vt:lpstr>Calibri Light</vt:lpstr>
      <vt:lpstr>Söhne</vt:lpstr>
      <vt:lpstr>Office Theme</vt:lpstr>
      <vt:lpstr>The Advantages of Implementing a Neighborhood-Based Primary Healthcare Model and Clinic</vt:lpstr>
      <vt:lpstr>Introduction</vt:lpstr>
      <vt:lpstr>PowerPoint Presentation</vt:lpstr>
      <vt:lpstr>Aim of the Literature Review: Research Objective</vt:lpstr>
      <vt:lpstr>Literature Review Methodology</vt:lpstr>
      <vt:lpstr>PowerPoint Presentation</vt:lpstr>
      <vt:lpstr>Results</vt:lpstr>
      <vt:lpstr>Journey through literature review</vt:lpstr>
      <vt:lpstr>PowerPoint Presentation</vt:lpstr>
      <vt:lpstr>PowerPoint Presentation</vt:lpstr>
      <vt:lpstr>PowerPoint Presentation</vt:lpstr>
      <vt:lpstr>PowerPoint Presentation</vt:lpstr>
      <vt:lpstr>PowerPoint Presentation</vt:lpstr>
      <vt:lpstr>Case Studies</vt:lpstr>
      <vt:lpstr>Benefits of Neighborhood-Based Primary Healthcare Model through case study</vt:lpstr>
      <vt:lpstr>Challenges and Solutions</vt:lpstr>
      <vt:lpstr>Interdisciplinary Collaboration</vt:lpstr>
      <vt:lpstr>Conclusion</vt:lpstr>
      <vt:lpstr>Reference</vt:lpstr>
      <vt:lpstr>Questions?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Slide</dc:title>
  <dc:creator>., Ashwin Yadhav Kumar</dc:creator>
  <cp:lastModifiedBy>., Ashwin Yadhav Kumar</cp:lastModifiedBy>
  <cp:revision>7</cp:revision>
  <dcterms:created xsi:type="dcterms:W3CDTF">2023-08-07T20:43:08Z</dcterms:created>
  <dcterms:modified xsi:type="dcterms:W3CDTF">2023-08-08T18:48:35Z</dcterms:modified>
</cp:coreProperties>
</file>